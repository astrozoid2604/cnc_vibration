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347B-2108-4DA5-B3CF-DFB702C2D0EB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3E4184F-D3B0-4CB8-8612-EB36C151369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49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347B-2108-4DA5-B3CF-DFB702C2D0EB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84F-D3B0-4CB8-8612-EB36C1513692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41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347B-2108-4DA5-B3CF-DFB702C2D0EB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84F-D3B0-4CB8-8612-EB36C151369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633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347B-2108-4DA5-B3CF-DFB702C2D0EB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84F-D3B0-4CB8-8612-EB36C1513692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989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347B-2108-4DA5-B3CF-DFB702C2D0EB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84F-D3B0-4CB8-8612-EB36C1513692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42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347B-2108-4DA5-B3CF-DFB702C2D0EB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84F-D3B0-4CB8-8612-EB36C1513692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526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347B-2108-4DA5-B3CF-DFB702C2D0EB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84F-D3B0-4CB8-8612-EB36C1513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90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347B-2108-4DA5-B3CF-DFB702C2D0EB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84F-D3B0-4CB8-8612-EB36C1513692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323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A9B347B-2108-4DA5-B3CF-DFB702C2D0EB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84F-D3B0-4CB8-8612-EB36C1513692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313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347B-2108-4DA5-B3CF-DFB702C2D0EB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84F-D3B0-4CB8-8612-EB36C1513692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041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347B-2108-4DA5-B3CF-DFB702C2D0EB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84F-D3B0-4CB8-8612-EB36C151369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542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B347B-2108-4DA5-B3CF-DFB702C2D0EB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3E4184F-D3B0-4CB8-8612-EB36C151369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991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148D-57C2-F8A8-853E-D7CD178692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Gen-AI Evaluation Metrics for </a:t>
            </a:r>
            <a:br>
              <a:rPr lang="en-US" dirty="0"/>
            </a:br>
            <a:r>
              <a:rPr lang="en-US" dirty="0"/>
              <a:t>time-series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28C41-1567-AFED-4B48-7C0B9FEE21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i="1" dirty="0"/>
              <a:t>James Lim</a:t>
            </a:r>
          </a:p>
          <a:p>
            <a:pPr algn="l"/>
            <a:r>
              <a:rPr lang="en-US" i="1" dirty="0"/>
              <a:t>10/16/2023</a:t>
            </a:r>
          </a:p>
        </p:txBody>
      </p:sp>
    </p:spTree>
    <p:extLst>
      <p:ext uri="{BB962C8B-B14F-4D97-AF65-F5344CB8AC3E}">
        <p14:creationId xmlns:p14="http://schemas.microsoft.com/office/powerpoint/2010/main" val="19328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BE0BE-474E-3B74-881F-D2CA3D86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Gen-AI Evaluation Metrics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86BC5A-962C-AEBC-63EC-01729D2861FD}"/>
              </a:ext>
            </a:extLst>
          </p:cNvPr>
          <p:cNvSpPr txBox="1"/>
          <p:nvPr/>
        </p:nvSpPr>
        <p:spPr>
          <a:xfrm>
            <a:off x="1515979" y="1403684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Prevalent Time-Series Metrics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8C530B39-DB72-43D4-901B-17CD8F07D1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8860920"/>
                  </p:ext>
                </p:extLst>
              </p:nvPr>
            </p:nvGraphicFramePr>
            <p:xfrm>
              <a:off x="348916" y="1895578"/>
              <a:ext cx="11494167" cy="4171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7331">
                      <a:extLst>
                        <a:ext uri="{9D8B030D-6E8A-4147-A177-3AD203B41FA5}">
                          <a16:colId xmlns:a16="http://schemas.microsoft.com/office/drawing/2014/main" val="810681656"/>
                        </a:ext>
                      </a:extLst>
                    </a:gridCol>
                    <a:gridCol w="4422371">
                      <a:extLst>
                        <a:ext uri="{9D8B030D-6E8A-4147-A177-3AD203B41FA5}">
                          <a16:colId xmlns:a16="http://schemas.microsoft.com/office/drawing/2014/main" val="2493900715"/>
                        </a:ext>
                      </a:extLst>
                    </a:gridCol>
                    <a:gridCol w="5234465">
                      <a:extLst>
                        <a:ext uri="{9D8B030D-6E8A-4147-A177-3AD203B41FA5}">
                          <a16:colId xmlns:a16="http://schemas.microsoft.com/office/drawing/2014/main" val="735087260"/>
                        </a:ext>
                      </a:extLst>
                    </a:gridCol>
                  </a:tblGrid>
                  <a:tr h="4433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Metric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Illustration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Description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7929127"/>
                      </a:ext>
                    </a:extLst>
                  </a:tr>
                  <a:tr h="9951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Wasserstein Distance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171450" indent="-171450" algn="just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900" dirty="0"/>
                            <a:t>Wasserstein distance measures dissimilarity between 2 probability distributions by computing the cost required to transport a probability mass between 2 distributions.</a:t>
                          </a:r>
                        </a:p>
                        <a:p>
                          <a:pPr marL="171450" indent="-171450" algn="just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900" dirty="0"/>
                            <a:t>This metric is able to capture structure and geometry of the underlying space which may not be captured by </a:t>
                          </a:r>
                          <a:r>
                            <a:rPr lang="en-US" sz="900" dirty="0" err="1"/>
                            <a:t>Kullback-Leibler</a:t>
                          </a:r>
                          <a:r>
                            <a:rPr lang="en-US" sz="900" dirty="0"/>
                            <a:t> divergence or Jensen-Shannon divergence.</a:t>
                          </a: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900" b="0" i="0" smtClean="0">
                                        <a:latin typeface="Cambria Math" panose="02040503050406030204" pitchFamily="18" charset="0"/>
                                      </a:rPr>
                                      <m:t>inf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𝔼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sSup>
                                                  <m:sSupPr>
                                                    <m:ctrlPr>
                                                      <a:rPr lang="en-US" sz="9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d>
                                                      <m:dPr>
                                                        <m:ctrlPr>
                                                          <a:rPr lang="en-US" sz="9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sz="9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sz="9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𝑋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sz="9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0</m:t>
                                                            </m:r>
                                                          </m:sub>
                                                        </m:sSub>
                                                        <m:r>
                                                          <a:rPr lang="en-US" sz="9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 </m:t>
                                                        </m:r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sz="9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sz="9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𝑋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sz="9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1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</m:d>
                                                  </m:e>
                                                  <m:sup>
                                                    <m:r>
                                                      <a:rPr lang="en-US" sz="9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𝑝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d>
                                          </m:e>
                                          <m:sup>
                                            <m:f>
                                              <m:fPr>
                                                <m:ctrlP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den>
                                            </m:f>
                                          </m:sup>
                                        </m:s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| </m:t>
                                        </m:r>
                                        <m:d>
                                          <m:dPr>
                                            <m:ctrlP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,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𝑖𝑠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𝑐𝑜𝑢𝑝𝑙𝑖𝑛𝑔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𝑏𝑒𝑡𝑤𝑒𝑒𝑛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𝑎𝑛𝑑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5380063"/>
                      </a:ext>
                    </a:extLst>
                  </a:tr>
                  <a:tr h="9951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Kolmogorov-Smirnov (KS) Test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285750" indent="-285750" algn="just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900" dirty="0"/>
                            <a:t>Kolmogorov-Smirnov (KS) Test is a non-parametric statistical test used to determine goodness-of-fit between observed dataset and model distribution. </a:t>
                          </a:r>
                        </a:p>
                        <a:p>
                          <a:pPr marL="285750" indent="-285750" algn="just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900" dirty="0"/>
                            <a:t>It is sensitive to differences in location (shift) and scale (spread) of the distributions. </a:t>
                          </a:r>
                        </a:p>
                        <a:p>
                          <a:pPr marL="285750" indent="-285750" algn="just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900" dirty="0"/>
                            <a:t>Higher KS statistic indicates worse goodness-of-fit between distributions.</a:t>
                          </a:r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endParaRPr lang="en-US" sz="900" dirty="0"/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𝐾𝑆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900" b="0" i="0" smtClean="0">
                                        <a:latin typeface="Cambria Math" panose="02040503050406030204" pitchFamily="18" charset="0"/>
                                      </a:rPr>
                                      <m:t>sup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𝐹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𝑚𝑜𝑑𝑒𝑙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𝐹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𝑒𝑚𝑝𝑖𝑟𝑖𝑐𝑎𝑙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6106680"/>
                      </a:ext>
                    </a:extLst>
                  </a:tr>
                  <a:tr h="9951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Pearson Correlation Coefficient (Autocorrelation)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285750" indent="-285750" algn="just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900" dirty="0"/>
                            <a:t>Autocorrelation is a similarity measure between a time series and a lagged version of itself over various time lags. </a:t>
                          </a:r>
                        </a:p>
                        <a:p>
                          <a:pPr marL="285750" indent="-285750" algn="just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900" dirty="0"/>
                            <a:t>When autocorrelation plot between 2 distributions are close, this means that data series is able to correlate with itself at different time intervals to a great extent between the 2 distributions. </a:t>
                          </a:r>
                        </a:p>
                        <a:p>
                          <a:pPr marL="285750" indent="-285750" algn="just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900" dirty="0"/>
                            <a:t>Distance calculation between 2 autocorrelation distributions can be computed with either Wasserstein distance or KS Test.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900" dirty="0"/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𝐴𝑢𝑡𝑜𝑐𝑜𝑟𝑟𝑒𝑙𝑎𝑡𝑖𝑜</m:t>
                                </m:r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subSup"/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5"/>
                                          </m:r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)(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nary>
                                  </m:num>
                                  <m:den>
                                    <m:nary>
                                      <m:naryPr>
                                        <m:chr m:val="∑"/>
                                        <m:limLoc m:val="subSup"/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5"/>
                                          </m:r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9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US" sz="9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den>
                                </m:f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950254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8C530B39-DB72-43D4-901B-17CD8F07D1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8860920"/>
                  </p:ext>
                </p:extLst>
              </p:nvPr>
            </p:nvGraphicFramePr>
            <p:xfrm>
              <a:off x="348916" y="1895578"/>
              <a:ext cx="11494167" cy="4171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7331">
                      <a:extLst>
                        <a:ext uri="{9D8B030D-6E8A-4147-A177-3AD203B41FA5}">
                          <a16:colId xmlns:a16="http://schemas.microsoft.com/office/drawing/2014/main" val="810681656"/>
                        </a:ext>
                      </a:extLst>
                    </a:gridCol>
                    <a:gridCol w="4422371">
                      <a:extLst>
                        <a:ext uri="{9D8B030D-6E8A-4147-A177-3AD203B41FA5}">
                          <a16:colId xmlns:a16="http://schemas.microsoft.com/office/drawing/2014/main" val="2493900715"/>
                        </a:ext>
                      </a:extLst>
                    </a:gridCol>
                    <a:gridCol w="5234465">
                      <a:extLst>
                        <a:ext uri="{9D8B030D-6E8A-4147-A177-3AD203B41FA5}">
                          <a16:colId xmlns:a16="http://schemas.microsoft.com/office/drawing/2014/main" val="735087260"/>
                        </a:ext>
                      </a:extLst>
                    </a:gridCol>
                  </a:tblGrid>
                  <a:tr h="4433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Metric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Illustration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Description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7929127"/>
                      </a:ext>
                    </a:extLst>
                  </a:tr>
                  <a:tr h="9951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Wasserstein Distance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9674" t="-45122" r="-466" b="-2853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5380063"/>
                      </a:ext>
                    </a:extLst>
                  </a:tr>
                  <a:tr h="9951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Kolmogorov-Smirnov (KS) Test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9674" t="-146012" r="-466" b="-1871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6106680"/>
                      </a:ext>
                    </a:extLst>
                  </a:tr>
                  <a:tr h="1737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Pearson Correlation Coefficient (Autocorrelation)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9674" t="-140210" r="-466" b="-66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502545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F4184F-36BD-3452-F3BA-AF4CFE437C55}"/>
              </a:ext>
            </a:extLst>
          </p:cNvPr>
          <p:cNvCxnSpPr>
            <a:cxnSpLocks/>
          </p:cNvCxnSpPr>
          <p:nvPr/>
        </p:nvCxnSpPr>
        <p:spPr>
          <a:xfrm>
            <a:off x="2709949" y="2476673"/>
            <a:ext cx="379891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9427A4-2DF0-93BB-5F37-BEC9DD0AFA5B}"/>
              </a:ext>
            </a:extLst>
          </p:cNvPr>
          <p:cNvCxnSpPr>
            <a:cxnSpLocks/>
          </p:cNvCxnSpPr>
          <p:nvPr/>
        </p:nvCxnSpPr>
        <p:spPr>
          <a:xfrm>
            <a:off x="2709949" y="3122294"/>
            <a:ext cx="379891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54C701-98F8-B656-0A9C-985DEAE7B968}"/>
                  </a:ext>
                </a:extLst>
              </p:cNvPr>
              <p:cNvSpPr txBox="1"/>
              <p:nvPr/>
            </p:nvSpPr>
            <p:spPr>
              <a:xfrm>
                <a:off x="2428770" y="2337608"/>
                <a:ext cx="2124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54C701-98F8-B656-0A9C-985DEAE7B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770" y="2337608"/>
                <a:ext cx="212430" cy="276999"/>
              </a:xfrm>
              <a:prstGeom prst="rect">
                <a:avLst/>
              </a:prstGeom>
              <a:blipFill>
                <a:blip r:embed="rId3"/>
                <a:stretch>
                  <a:fillRect l="-22857" r="-22857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52C24B-E124-26A7-9AD1-8BDA5A896598}"/>
                  </a:ext>
                </a:extLst>
              </p:cNvPr>
              <p:cNvSpPr txBox="1"/>
              <p:nvPr/>
            </p:nvSpPr>
            <p:spPr>
              <a:xfrm>
                <a:off x="2427316" y="2967721"/>
                <a:ext cx="2263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52C24B-E124-26A7-9AD1-8BDA5A896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316" y="2967721"/>
                <a:ext cx="226344" cy="276999"/>
              </a:xfrm>
              <a:prstGeom prst="rect">
                <a:avLst/>
              </a:prstGeom>
              <a:blipFill>
                <a:blip r:embed="rId4"/>
                <a:stretch>
                  <a:fillRect l="-32432" r="-2973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E9BD1591-50D1-7AA6-584F-F36AB1DC638D}"/>
              </a:ext>
            </a:extLst>
          </p:cNvPr>
          <p:cNvSpPr/>
          <p:nvPr/>
        </p:nvSpPr>
        <p:spPr>
          <a:xfrm>
            <a:off x="2951017" y="2405495"/>
            <a:ext cx="182880" cy="18288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5AEAC0-C1D8-2513-8FFC-EA51AB9DBFE2}"/>
              </a:ext>
            </a:extLst>
          </p:cNvPr>
          <p:cNvSpPr/>
          <p:nvPr/>
        </p:nvSpPr>
        <p:spPr>
          <a:xfrm>
            <a:off x="2951017" y="3042790"/>
            <a:ext cx="182880" cy="182880"/>
          </a:xfrm>
          <a:prstGeom prst="ellipse">
            <a:avLst/>
          </a:prstGeom>
          <a:solidFill>
            <a:srgbClr val="00B05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9A6B8E8-E6E5-657A-777F-6BBB7925080B}"/>
              </a:ext>
            </a:extLst>
          </p:cNvPr>
          <p:cNvSpPr/>
          <p:nvPr/>
        </p:nvSpPr>
        <p:spPr>
          <a:xfrm>
            <a:off x="3497351" y="2394757"/>
            <a:ext cx="182880" cy="18288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E87D5C-E6EB-A9F2-0BFD-7558DA4D1D64}"/>
              </a:ext>
            </a:extLst>
          </p:cNvPr>
          <p:cNvSpPr/>
          <p:nvPr/>
        </p:nvSpPr>
        <p:spPr>
          <a:xfrm>
            <a:off x="3721859" y="2394757"/>
            <a:ext cx="182880" cy="18288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A08527-03BB-548E-EB12-285A89145C60}"/>
              </a:ext>
            </a:extLst>
          </p:cNvPr>
          <p:cNvSpPr/>
          <p:nvPr/>
        </p:nvSpPr>
        <p:spPr>
          <a:xfrm>
            <a:off x="3094419" y="3043355"/>
            <a:ext cx="182880" cy="182880"/>
          </a:xfrm>
          <a:prstGeom prst="ellipse">
            <a:avLst/>
          </a:prstGeom>
          <a:solidFill>
            <a:srgbClr val="00B05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2802A09-E458-F964-294B-7335AB5A1301}"/>
              </a:ext>
            </a:extLst>
          </p:cNvPr>
          <p:cNvSpPr/>
          <p:nvPr/>
        </p:nvSpPr>
        <p:spPr>
          <a:xfrm>
            <a:off x="3355054" y="3040772"/>
            <a:ext cx="182880" cy="182880"/>
          </a:xfrm>
          <a:prstGeom prst="ellipse">
            <a:avLst/>
          </a:prstGeom>
          <a:solidFill>
            <a:srgbClr val="00B05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C5080A1-2D58-E1EE-A82E-730F3EF94943}"/>
              </a:ext>
            </a:extLst>
          </p:cNvPr>
          <p:cNvSpPr/>
          <p:nvPr/>
        </p:nvSpPr>
        <p:spPr>
          <a:xfrm>
            <a:off x="4129417" y="2384668"/>
            <a:ext cx="182880" cy="18288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C1C40DD-8980-3E61-3C32-44A05D84101A}"/>
              </a:ext>
            </a:extLst>
          </p:cNvPr>
          <p:cNvSpPr/>
          <p:nvPr/>
        </p:nvSpPr>
        <p:spPr>
          <a:xfrm>
            <a:off x="4272819" y="2385233"/>
            <a:ext cx="182880" cy="18288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6153B1D-3F9F-FE53-3F49-6E7BF7DC69AD}"/>
              </a:ext>
            </a:extLst>
          </p:cNvPr>
          <p:cNvSpPr/>
          <p:nvPr/>
        </p:nvSpPr>
        <p:spPr>
          <a:xfrm>
            <a:off x="5091137" y="3030289"/>
            <a:ext cx="182880" cy="182880"/>
          </a:xfrm>
          <a:prstGeom prst="ellipse">
            <a:avLst/>
          </a:prstGeom>
          <a:solidFill>
            <a:srgbClr val="00B05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04D261F-FC14-92E8-0349-ABBD2A0DF749}"/>
              </a:ext>
            </a:extLst>
          </p:cNvPr>
          <p:cNvSpPr/>
          <p:nvPr/>
        </p:nvSpPr>
        <p:spPr>
          <a:xfrm>
            <a:off x="5234539" y="3030854"/>
            <a:ext cx="182880" cy="182880"/>
          </a:xfrm>
          <a:prstGeom prst="ellipse">
            <a:avLst/>
          </a:prstGeom>
          <a:solidFill>
            <a:srgbClr val="00B05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975D219-0777-C5DF-3F44-E459F225D1FA}"/>
              </a:ext>
            </a:extLst>
          </p:cNvPr>
          <p:cNvSpPr/>
          <p:nvPr/>
        </p:nvSpPr>
        <p:spPr>
          <a:xfrm>
            <a:off x="4817431" y="2394192"/>
            <a:ext cx="182880" cy="18288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D28CB7D-D883-606A-D66B-13DBA702E4F3}"/>
              </a:ext>
            </a:extLst>
          </p:cNvPr>
          <p:cNvSpPr/>
          <p:nvPr/>
        </p:nvSpPr>
        <p:spPr>
          <a:xfrm>
            <a:off x="4960833" y="2394757"/>
            <a:ext cx="182880" cy="18288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A1C3B7F-1982-AEC8-B6E4-6FA36C99AA64}"/>
              </a:ext>
            </a:extLst>
          </p:cNvPr>
          <p:cNvSpPr/>
          <p:nvPr/>
        </p:nvSpPr>
        <p:spPr>
          <a:xfrm>
            <a:off x="5631650" y="3029724"/>
            <a:ext cx="182880" cy="182880"/>
          </a:xfrm>
          <a:prstGeom prst="ellipse">
            <a:avLst/>
          </a:prstGeom>
          <a:solidFill>
            <a:srgbClr val="00B05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E49FE5-9AD7-A1CA-0E17-09CEB1A5F96A}"/>
              </a:ext>
            </a:extLst>
          </p:cNvPr>
          <p:cNvSpPr/>
          <p:nvPr/>
        </p:nvSpPr>
        <p:spPr>
          <a:xfrm>
            <a:off x="5775052" y="3030289"/>
            <a:ext cx="182880" cy="182880"/>
          </a:xfrm>
          <a:prstGeom prst="ellipse">
            <a:avLst/>
          </a:prstGeom>
          <a:solidFill>
            <a:srgbClr val="00B05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1F83AFC-10D6-6285-A8E6-B0BE742992C4}"/>
              </a:ext>
            </a:extLst>
          </p:cNvPr>
          <p:cNvSpPr/>
          <p:nvPr/>
        </p:nvSpPr>
        <p:spPr>
          <a:xfrm>
            <a:off x="5394979" y="2384668"/>
            <a:ext cx="182880" cy="18288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30F4444-6D24-81AC-A83E-7A8E4B88D201}"/>
              </a:ext>
            </a:extLst>
          </p:cNvPr>
          <p:cNvCxnSpPr>
            <a:cxnSpLocks/>
          </p:cNvCxnSpPr>
          <p:nvPr/>
        </p:nvCxnSpPr>
        <p:spPr>
          <a:xfrm>
            <a:off x="3032932" y="2596122"/>
            <a:ext cx="0" cy="427618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373F6D-0B4E-6718-42CE-1BC0231EE883}"/>
              </a:ext>
            </a:extLst>
          </p:cNvPr>
          <p:cNvCxnSpPr>
            <a:cxnSpLocks/>
          </p:cNvCxnSpPr>
          <p:nvPr/>
        </p:nvCxnSpPr>
        <p:spPr>
          <a:xfrm flipH="1">
            <a:off x="3185859" y="2588375"/>
            <a:ext cx="402932" cy="441914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09D7B34-F990-E669-E5F8-40EAAFDD9C5C}"/>
              </a:ext>
            </a:extLst>
          </p:cNvPr>
          <p:cNvCxnSpPr>
            <a:cxnSpLocks/>
          </p:cNvCxnSpPr>
          <p:nvPr/>
        </p:nvCxnSpPr>
        <p:spPr>
          <a:xfrm flipH="1">
            <a:off x="3445168" y="2609911"/>
            <a:ext cx="357854" cy="420378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715E3A52-982A-50C6-374D-DB64FE368A3B}"/>
              </a:ext>
            </a:extLst>
          </p:cNvPr>
          <p:cNvSpPr/>
          <p:nvPr/>
        </p:nvSpPr>
        <p:spPr>
          <a:xfrm>
            <a:off x="4341069" y="3030289"/>
            <a:ext cx="182880" cy="182880"/>
          </a:xfrm>
          <a:prstGeom prst="ellipse">
            <a:avLst/>
          </a:prstGeom>
          <a:solidFill>
            <a:srgbClr val="00B050"/>
          </a:solidFill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8CE6B8C-8F7D-EF31-DB79-4D7FD96EAE0D}"/>
              </a:ext>
            </a:extLst>
          </p:cNvPr>
          <p:cNvCxnSpPr>
            <a:cxnSpLocks/>
            <a:stCxn id="18" idx="4"/>
            <a:endCxn id="35" idx="0"/>
          </p:cNvCxnSpPr>
          <p:nvPr/>
        </p:nvCxnSpPr>
        <p:spPr>
          <a:xfrm>
            <a:off x="4220857" y="2567548"/>
            <a:ext cx="211652" cy="462741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5BBE700-4E6B-BE88-BDC2-CDE86F19C858}"/>
              </a:ext>
            </a:extLst>
          </p:cNvPr>
          <p:cNvCxnSpPr>
            <a:cxnSpLocks/>
            <a:stCxn id="19" idx="4"/>
            <a:endCxn id="20" idx="0"/>
          </p:cNvCxnSpPr>
          <p:nvPr/>
        </p:nvCxnSpPr>
        <p:spPr>
          <a:xfrm>
            <a:off x="4364259" y="2568113"/>
            <a:ext cx="818318" cy="46217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39F34EE-8EE5-C7CE-A0F9-BE8618ED53C9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4908871" y="2577072"/>
            <a:ext cx="417108" cy="453782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3361D31-6008-EEB4-279B-D12D65A64065}"/>
              </a:ext>
            </a:extLst>
          </p:cNvPr>
          <p:cNvCxnSpPr>
            <a:cxnSpLocks/>
            <a:stCxn id="23" idx="4"/>
            <a:endCxn id="24" idx="0"/>
          </p:cNvCxnSpPr>
          <p:nvPr/>
        </p:nvCxnSpPr>
        <p:spPr>
          <a:xfrm>
            <a:off x="5052273" y="2577637"/>
            <a:ext cx="670817" cy="452087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F2D8C39-816F-5FF6-FD2D-3D4E129C2578}"/>
              </a:ext>
            </a:extLst>
          </p:cNvPr>
          <p:cNvCxnSpPr>
            <a:cxnSpLocks/>
            <a:stCxn id="26" idx="4"/>
            <a:endCxn id="25" idx="0"/>
          </p:cNvCxnSpPr>
          <p:nvPr/>
        </p:nvCxnSpPr>
        <p:spPr>
          <a:xfrm>
            <a:off x="5486419" y="2567548"/>
            <a:ext cx="380073" cy="462741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D81A2DE-202D-D4CB-E3E0-9428A724B9DA}"/>
              </a:ext>
            </a:extLst>
          </p:cNvPr>
          <p:cNvGrpSpPr/>
          <p:nvPr/>
        </p:nvGrpSpPr>
        <p:grpSpPr>
          <a:xfrm>
            <a:off x="2370248" y="2922856"/>
            <a:ext cx="2815795" cy="1755564"/>
            <a:chOff x="2113073" y="3008581"/>
            <a:chExt cx="2815795" cy="1755564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4395529-8AC7-4783-3483-E9BEC1371D28}"/>
                </a:ext>
              </a:extLst>
            </p:cNvPr>
            <p:cNvGrpSpPr/>
            <p:nvPr/>
          </p:nvGrpSpPr>
          <p:grpSpPr>
            <a:xfrm>
              <a:off x="2113073" y="3008581"/>
              <a:ext cx="2815795" cy="1755564"/>
              <a:chOff x="2352504" y="2938020"/>
              <a:chExt cx="2815795" cy="1755564"/>
            </a:xfrm>
          </p:grpSpPr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A35FCBA4-3531-2450-C086-29D5DF6A6892}"/>
                  </a:ext>
                </a:extLst>
              </p:cNvPr>
              <p:cNvSpPr/>
              <p:nvPr/>
            </p:nvSpPr>
            <p:spPr>
              <a:xfrm rot="6787267">
                <a:off x="2261502" y="3029022"/>
                <a:ext cx="1315479" cy="1133475"/>
              </a:xfrm>
              <a:prstGeom prst="arc">
                <a:avLst>
                  <a:gd name="adj1" fmla="val 16200000"/>
                  <a:gd name="adj2" fmla="val 20416057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48E59BA-29A4-8C81-8185-114CCE544598}"/>
                  </a:ext>
                </a:extLst>
              </p:cNvPr>
              <p:cNvCxnSpPr>
                <a:stCxn id="53" idx="0"/>
              </p:cNvCxnSpPr>
              <p:nvPr/>
            </p:nvCxnSpPr>
            <p:spPr>
              <a:xfrm flipV="1">
                <a:off x="3440457" y="3701437"/>
                <a:ext cx="688960" cy="11686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Arc 55">
                <a:extLst>
                  <a:ext uri="{FF2B5EF4-FFF2-40B4-BE49-F238E27FC236}">
                    <a16:creationId xmlns:a16="http://schemas.microsoft.com/office/drawing/2014/main" id="{41B70E83-FF2D-26B3-1060-6941B9E4F807}"/>
                  </a:ext>
                </a:extLst>
              </p:cNvPr>
              <p:cNvSpPr/>
              <p:nvPr/>
            </p:nvSpPr>
            <p:spPr>
              <a:xfrm rot="19008483">
                <a:off x="3852820" y="3560109"/>
                <a:ext cx="1315479" cy="1133475"/>
              </a:xfrm>
              <a:prstGeom prst="arc">
                <a:avLst>
                  <a:gd name="adj1" fmla="val 16200000"/>
                  <a:gd name="adj2" fmla="val 20416057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E24F017-80D0-6147-A845-885CF327AF73}"/>
                </a:ext>
              </a:extLst>
            </p:cNvPr>
            <p:cNvSpPr/>
            <p:nvPr/>
          </p:nvSpPr>
          <p:spPr>
            <a:xfrm>
              <a:off x="2676014" y="3601042"/>
              <a:ext cx="1943100" cy="704850"/>
            </a:xfrm>
            <a:custGeom>
              <a:avLst/>
              <a:gdLst>
                <a:gd name="connsiteX0" fmla="*/ 0 w 1943100"/>
                <a:gd name="connsiteY0" fmla="*/ 704850 h 704850"/>
                <a:gd name="connsiteX1" fmla="*/ 209550 w 1943100"/>
                <a:gd name="connsiteY1" fmla="*/ 695325 h 704850"/>
                <a:gd name="connsiteX2" fmla="*/ 276225 w 1943100"/>
                <a:gd name="connsiteY2" fmla="*/ 647700 h 704850"/>
                <a:gd name="connsiteX3" fmla="*/ 304800 w 1943100"/>
                <a:gd name="connsiteY3" fmla="*/ 628650 h 704850"/>
                <a:gd name="connsiteX4" fmla="*/ 342900 w 1943100"/>
                <a:gd name="connsiteY4" fmla="*/ 600075 h 704850"/>
                <a:gd name="connsiteX5" fmla="*/ 381000 w 1943100"/>
                <a:gd name="connsiteY5" fmla="*/ 561975 h 704850"/>
                <a:gd name="connsiteX6" fmla="*/ 438150 w 1943100"/>
                <a:gd name="connsiteY6" fmla="*/ 514350 h 704850"/>
                <a:gd name="connsiteX7" fmla="*/ 495300 w 1943100"/>
                <a:gd name="connsiteY7" fmla="*/ 476250 h 704850"/>
                <a:gd name="connsiteX8" fmla="*/ 552450 w 1943100"/>
                <a:gd name="connsiteY8" fmla="*/ 342900 h 704850"/>
                <a:gd name="connsiteX9" fmla="*/ 561975 w 1943100"/>
                <a:gd name="connsiteY9" fmla="*/ 276225 h 704850"/>
                <a:gd name="connsiteX10" fmla="*/ 638175 w 1943100"/>
                <a:gd name="connsiteY10" fmla="*/ 247650 h 704850"/>
                <a:gd name="connsiteX11" fmla="*/ 742950 w 1943100"/>
                <a:gd name="connsiteY11" fmla="*/ 266700 h 704850"/>
                <a:gd name="connsiteX12" fmla="*/ 781050 w 1943100"/>
                <a:gd name="connsiteY12" fmla="*/ 295275 h 704850"/>
                <a:gd name="connsiteX13" fmla="*/ 828675 w 1943100"/>
                <a:gd name="connsiteY13" fmla="*/ 314325 h 704850"/>
                <a:gd name="connsiteX14" fmla="*/ 933450 w 1943100"/>
                <a:gd name="connsiteY14" fmla="*/ 304800 h 704850"/>
                <a:gd name="connsiteX15" fmla="*/ 971550 w 1943100"/>
                <a:gd name="connsiteY15" fmla="*/ 276225 h 704850"/>
                <a:gd name="connsiteX16" fmla="*/ 1095375 w 1943100"/>
                <a:gd name="connsiteY16" fmla="*/ 209550 h 704850"/>
                <a:gd name="connsiteX17" fmla="*/ 1162050 w 1943100"/>
                <a:gd name="connsiteY17" fmla="*/ 190500 h 704850"/>
                <a:gd name="connsiteX18" fmla="*/ 1314450 w 1943100"/>
                <a:gd name="connsiteY18" fmla="*/ 180975 h 704850"/>
                <a:gd name="connsiteX19" fmla="*/ 1400175 w 1943100"/>
                <a:gd name="connsiteY19" fmla="*/ 142875 h 704850"/>
                <a:gd name="connsiteX20" fmla="*/ 1476375 w 1943100"/>
                <a:gd name="connsiteY20" fmla="*/ 66675 h 704850"/>
                <a:gd name="connsiteX21" fmla="*/ 1504950 w 1943100"/>
                <a:gd name="connsiteY21" fmla="*/ 57150 h 704850"/>
                <a:gd name="connsiteX22" fmla="*/ 1562100 w 1943100"/>
                <a:gd name="connsiteY22" fmla="*/ 19050 h 704850"/>
                <a:gd name="connsiteX23" fmla="*/ 1609725 w 1943100"/>
                <a:gd name="connsiteY23" fmla="*/ 0 h 704850"/>
                <a:gd name="connsiteX24" fmla="*/ 1828800 w 1943100"/>
                <a:gd name="connsiteY24" fmla="*/ 28575 h 704850"/>
                <a:gd name="connsiteX25" fmla="*/ 1866900 w 1943100"/>
                <a:gd name="connsiteY25" fmla="*/ 47625 h 704850"/>
                <a:gd name="connsiteX26" fmla="*/ 1895475 w 1943100"/>
                <a:gd name="connsiteY26" fmla="*/ 57150 h 704850"/>
                <a:gd name="connsiteX27" fmla="*/ 1924050 w 1943100"/>
                <a:gd name="connsiteY27" fmla="*/ 76200 h 704850"/>
                <a:gd name="connsiteX28" fmla="*/ 1943100 w 1943100"/>
                <a:gd name="connsiteY28" fmla="*/ 85725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943100" h="704850">
                  <a:moveTo>
                    <a:pt x="0" y="704850"/>
                  </a:moveTo>
                  <a:cubicBezTo>
                    <a:pt x="69850" y="701675"/>
                    <a:pt x="140056" y="703047"/>
                    <a:pt x="209550" y="695325"/>
                  </a:cubicBezTo>
                  <a:cubicBezTo>
                    <a:pt x="272844" y="688292"/>
                    <a:pt x="244316" y="679609"/>
                    <a:pt x="276225" y="647700"/>
                  </a:cubicBezTo>
                  <a:cubicBezTo>
                    <a:pt x="284320" y="639605"/>
                    <a:pt x="295485" y="635304"/>
                    <a:pt x="304800" y="628650"/>
                  </a:cubicBezTo>
                  <a:cubicBezTo>
                    <a:pt x="317718" y="619423"/>
                    <a:pt x="330953" y="610529"/>
                    <a:pt x="342900" y="600075"/>
                  </a:cubicBezTo>
                  <a:cubicBezTo>
                    <a:pt x="356417" y="588248"/>
                    <a:pt x="367650" y="573990"/>
                    <a:pt x="381000" y="561975"/>
                  </a:cubicBezTo>
                  <a:cubicBezTo>
                    <a:pt x="399432" y="545386"/>
                    <a:pt x="419616" y="530825"/>
                    <a:pt x="438150" y="514350"/>
                  </a:cubicBezTo>
                  <a:cubicBezTo>
                    <a:pt x="480959" y="476297"/>
                    <a:pt x="448628" y="491807"/>
                    <a:pt x="495300" y="476250"/>
                  </a:cubicBezTo>
                  <a:cubicBezTo>
                    <a:pt x="536188" y="414918"/>
                    <a:pt x="541267" y="421182"/>
                    <a:pt x="552450" y="342900"/>
                  </a:cubicBezTo>
                  <a:cubicBezTo>
                    <a:pt x="555625" y="320675"/>
                    <a:pt x="551072" y="295850"/>
                    <a:pt x="561975" y="276225"/>
                  </a:cubicBezTo>
                  <a:cubicBezTo>
                    <a:pt x="570009" y="261764"/>
                    <a:pt x="624815" y="250990"/>
                    <a:pt x="638175" y="247650"/>
                  </a:cubicBezTo>
                  <a:cubicBezTo>
                    <a:pt x="673100" y="254000"/>
                    <a:pt x="709274" y="255475"/>
                    <a:pt x="742950" y="266700"/>
                  </a:cubicBezTo>
                  <a:cubicBezTo>
                    <a:pt x="758010" y="271720"/>
                    <a:pt x="767173" y="287565"/>
                    <a:pt x="781050" y="295275"/>
                  </a:cubicBezTo>
                  <a:cubicBezTo>
                    <a:pt x="795996" y="303578"/>
                    <a:pt x="812800" y="307975"/>
                    <a:pt x="828675" y="314325"/>
                  </a:cubicBezTo>
                  <a:cubicBezTo>
                    <a:pt x="863600" y="311150"/>
                    <a:pt x="899565" y="313836"/>
                    <a:pt x="933450" y="304800"/>
                  </a:cubicBezTo>
                  <a:cubicBezTo>
                    <a:pt x="948789" y="300710"/>
                    <a:pt x="958632" y="285452"/>
                    <a:pt x="971550" y="276225"/>
                  </a:cubicBezTo>
                  <a:cubicBezTo>
                    <a:pt x="1007514" y="250537"/>
                    <a:pt x="1058562" y="221821"/>
                    <a:pt x="1095375" y="209550"/>
                  </a:cubicBezTo>
                  <a:cubicBezTo>
                    <a:pt x="1112781" y="203748"/>
                    <a:pt x="1144964" y="192209"/>
                    <a:pt x="1162050" y="190500"/>
                  </a:cubicBezTo>
                  <a:cubicBezTo>
                    <a:pt x="1212697" y="185435"/>
                    <a:pt x="1263650" y="184150"/>
                    <a:pt x="1314450" y="180975"/>
                  </a:cubicBezTo>
                  <a:cubicBezTo>
                    <a:pt x="1349015" y="169453"/>
                    <a:pt x="1373959" y="166708"/>
                    <a:pt x="1400175" y="142875"/>
                  </a:cubicBezTo>
                  <a:cubicBezTo>
                    <a:pt x="1426754" y="118712"/>
                    <a:pt x="1442297" y="78034"/>
                    <a:pt x="1476375" y="66675"/>
                  </a:cubicBezTo>
                  <a:cubicBezTo>
                    <a:pt x="1485900" y="63500"/>
                    <a:pt x="1496173" y="62026"/>
                    <a:pt x="1504950" y="57150"/>
                  </a:cubicBezTo>
                  <a:cubicBezTo>
                    <a:pt x="1524964" y="46031"/>
                    <a:pt x="1540842" y="27553"/>
                    <a:pt x="1562100" y="19050"/>
                  </a:cubicBezTo>
                  <a:lnTo>
                    <a:pt x="1609725" y="0"/>
                  </a:lnTo>
                  <a:cubicBezTo>
                    <a:pt x="1682750" y="9525"/>
                    <a:pt x="1756388" y="15165"/>
                    <a:pt x="1828800" y="28575"/>
                  </a:cubicBezTo>
                  <a:cubicBezTo>
                    <a:pt x="1842762" y="31160"/>
                    <a:pt x="1853849" y="42032"/>
                    <a:pt x="1866900" y="47625"/>
                  </a:cubicBezTo>
                  <a:cubicBezTo>
                    <a:pt x="1876128" y="51580"/>
                    <a:pt x="1886495" y="52660"/>
                    <a:pt x="1895475" y="57150"/>
                  </a:cubicBezTo>
                  <a:cubicBezTo>
                    <a:pt x="1905714" y="62270"/>
                    <a:pt x="1914234" y="70310"/>
                    <a:pt x="1924050" y="76200"/>
                  </a:cubicBezTo>
                  <a:cubicBezTo>
                    <a:pt x="1930138" y="79853"/>
                    <a:pt x="1936750" y="82550"/>
                    <a:pt x="1943100" y="85725"/>
                  </a:cubicBezTo>
                </a:path>
              </a:pathLst>
            </a:cu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241FDDA-CFD4-24CE-2A0E-C84678B184F5}"/>
                </a:ext>
              </a:extLst>
            </p:cNvPr>
            <p:cNvGrpSpPr/>
            <p:nvPr/>
          </p:nvGrpSpPr>
          <p:grpSpPr>
            <a:xfrm>
              <a:off x="2533531" y="3476625"/>
              <a:ext cx="2375340" cy="890587"/>
              <a:chOff x="2533531" y="3476625"/>
              <a:chExt cx="2375340" cy="890587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3E93CB8-9E41-7174-6B60-D65BDBF1D3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40488" y="3476625"/>
                <a:ext cx="0" cy="89058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E35AB5D-C784-F994-557C-5059D71DBD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33531" y="4367212"/>
                <a:ext cx="237534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63F17F6E-9B49-6104-2B45-AA87689E057D}"/>
              </a:ext>
            </a:extLst>
          </p:cNvPr>
          <p:cNvSpPr txBox="1"/>
          <p:nvPr/>
        </p:nvSpPr>
        <p:spPr>
          <a:xfrm rot="16200000">
            <a:off x="2418570" y="3698189"/>
            <a:ext cx="44563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CDF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4DAFE0A-73BF-94C6-B028-D2A91BB22D57}"/>
              </a:ext>
            </a:extLst>
          </p:cNvPr>
          <p:cNvCxnSpPr/>
          <p:nvPr/>
        </p:nvCxnSpPr>
        <p:spPr>
          <a:xfrm>
            <a:off x="3813299" y="3524250"/>
            <a:ext cx="0" cy="1715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D8AE3DD-63EC-EBD7-97B2-11FC5F6550E9}"/>
              </a:ext>
            </a:extLst>
          </p:cNvPr>
          <p:cNvCxnSpPr>
            <a:cxnSpLocks/>
          </p:cNvCxnSpPr>
          <p:nvPr/>
        </p:nvCxnSpPr>
        <p:spPr>
          <a:xfrm flipV="1">
            <a:off x="3813299" y="3895725"/>
            <a:ext cx="0" cy="1715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C5E76F6-C081-7AD8-A64C-B164A974D86C}"/>
              </a:ext>
            </a:extLst>
          </p:cNvPr>
          <p:cNvCxnSpPr/>
          <p:nvPr/>
        </p:nvCxnSpPr>
        <p:spPr>
          <a:xfrm>
            <a:off x="3716480" y="3686273"/>
            <a:ext cx="18825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078660D-0288-109F-E49F-A4B372B2DB10}"/>
              </a:ext>
            </a:extLst>
          </p:cNvPr>
          <p:cNvCxnSpPr/>
          <p:nvPr/>
        </p:nvCxnSpPr>
        <p:spPr>
          <a:xfrm>
            <a:off x="3716480" y="3886200"/>
            <a:ext cx="18825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2E20625-5EEC-8225-6D5D-C35F48A83748}"/>
              </a:ext>
            </a:extLst>
          </p:cNvPr>
          <p:cNvCxnSpPr/>
          <p:nvPr/>
        </p:nvCxnSpPr>
        <p:spPr>
          <a:xfrm>
            <a:off x="4960327" y="3801856"/>
            <a:ext cx="395282" cy="0"/>
          </a:xfrm>
          <a:prstGeom prst="line">
            <a:avLst/>
          </a:prstGeom>
          <a:ln w="127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50F4E7A-2914-945A-23C4-D7A6A6C045ED}"/>
              </a:ext>
            </a:extLst>
          </p:cNvPr>
          <p:cNvCxnSpPr/>
          <p:nvPr/>
        </p:nvCxnSpPr>
        <p:spPr>
          <a:xfrm>
            <a:off x="4960327" y="3984625"/>
            <a:ext cx="395282" cy="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63F894A-097E-4DBD-9868-F64EFD6B978C}"/>
                  </a:ext>
                </a:extLst>
              </p:cNvPr>
              <p:cNvSpPr txBox="1"/>
              <p:nvPr/>
            </p:nvSpPr>
            <p:spPr>
              <a:xfrm>
                <a:off x="5409400" y="3708677"/>
                <a:ext cx="80759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𝑀𝑜𝑑𝑒𝑙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𝐶𝐷𝐹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63F894A-097E-4DBD-9868-F64EFD6B9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400" y="3708677"/>
                <a:ext cx="807593" cy="184666"/>
              </a:xfrm>
              <a:prstGeom prst="rect">
                <a:avLst/>
              </a:prstGeom>
              <a:blipFill>
                <a:blip r:embed="rId5"/>
                <a:stretch>
                  <a:fillRect l="-3759" r="-2256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1FC98D1-6B55-1EDB-0BB1-A7163B7F6F31}"/>
                  </a:ext>
                </a:extLst>
              </p:cNvPr>
              <p:cNvSpPr txBox="1"/>
              <p:nvPr/>
            </p:nvSpPr>
            <p:spPr>
              <a:xfrm>
                <a:off x="5409400" y="3891961"/>
                <a:ext cx="106407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𝐸𝑚𝑝𝑖𝑟𝑖𝑐𝑎𝑙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𝐶𝐷𝐹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1FC98D1-6B55-1EDB-0BB1-A7163B7F6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400" y="3891961"/>
                <a:ext cx="1064074" cy="184666"/>
              </a:xfrm>
              <a:prstGeom prst="rect">
                <a:avLst/>
              </a:prstGeom>
              <a:blipFill>
                <a:blip r:embed="rId6"/>
                <a:stretch>
                  <a:fillRect l="-4571" r="-2286" b="-32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Picture 82">
            <a:extLst>
              <a:ext uri="{FF2B5EF4-FFF2-40B4-BE49-F238E27FC236}">
                <a16:creationId xmlns:a16="http://schemas.microsoft.com/office/drawing/2014/main" id="{4A17A65F-21FB-F2CD-2E69-73C6F4F4CD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4014" y="4394110"/>
            <a:ext cx="2214881" cy="1441675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9D60266C-682A-B177-BEA1-3B325EB4F94E}"/>
              </a:ext>
            </a:extLst>
          </p:cNvPr>
          <p:cNvSpPr txBox="1"/>
          <p:nvPr/>
        </p:nvSpPr>
        <p:spPr>
          <a:xfrm rot="16200000">
            <a:off x="1668158" y="5004553"/>
            <a:ext cx="150637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Autocorrelation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61E3335-AEE9-AE90-EE21-208A068D9588}"/>
              </a:ext>
            </a:extLst>
          </p:cNvPr>
          <p:cNvSpPr txBox="1"/>
          <p:nvPr/>
        </p:nvSpPr>
        <p:spPr>
          <a:xfrm>
            <a:off x="3218163" y="5812588"/>
            <a:ext cx="85279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Time Lag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99F1B53-932C-7A44-DDBC-E840B9A1526E}"/>
              </a:ext>
            </a:extLst>
          </p:cNvPr>
          <p:cNvCxnSpPr/>
          <p:nvPr/>
        </p:nvCxnSpPr>
        <p:spPr>
          <a:xfrm>
            <a:off x="4845466" y="4799228"/>
            <a:ext cx="395282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F0ACC6D-D190-2CAC-FFCC-9768305530F6}"/>
              </a:ext>
            </a:extLst>
          </p:cNvPr>
          <p:cNvCxnSpPr/>
          <p:nvPr/>
        </p:nvCxnSpPr>
        <p:spPr>
          <a:xfrm>
            <a:off x="4845466" y="5420147"/>
            <a:ext cx="395282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C5A3783-3B60-4C3D-39F1-47421CA94F80}"/>
                  </a:ext>
                </a:extLst>
              </p:cNvPr>
              <p:cNvSpPr txBox="1"/>
              <p:nvPr/>
            </p:nvSpPr>
            <p:spPr>
              <a:xfrm>
                <a:off x="5294539" y="4706049"/>
                <a:ext cx="12452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𝐴𝑢𝑡𝑜𝑐𝑜𝑟𝑟𝑒𝑙𝑎𝑡𝑖𝑜𝑛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C5A3783-3B60-4C3D-39F1-47421CA94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539" y="4706049"/>
                <a:ext cx="1245213" cy="369332"/>
              </a:xfrm>
              <a:prstGeom prst="rect">
                <a:avLst/>
              </a:prstGeom>
              <a:blipFill>
                <a:blip r:embed="rId8"/>
                <a:stretch>
                  <a:fillRect l="-3922" r="-196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045B5FC-F8A8-B217-F0C7-88FEBBE774BD}"/>
                  </a:ext>
                </a:extLst>
              </p:cNvPr>
              <p:cNvSpPr txBox="1"/>
              <p:nvPr/>
            </p:nvSpPr>
            <p:spPr>
              <a:xfrm>
                <a:off x="5294539" y="5327483"/>
                <a:ext cx="12388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𝐴𝑢𝑡𝑜𝑐𝑜𝑟𝑟𝑒𝑙𝑎𝑡𝑖𝑜𝑛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1200" b="0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045B5FC-F8A8-B217-F0C7-88FEBBE77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539" y="5327483"/>
                <a:ext cx="1238801" cy="369332"/>
              </a:xfrm>
              <a:prstGeom prst="rect">
                <a:avLst/>
              </a:prstGeom>
              <a:blipFill>
                <a:blip r:embed="rId9"/>
                <a:stretch>
                  <a:fillRect l="-3941" r="-1970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837738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82</TotalTime>
  <Words>229</Words>
  <Application>Microsoft Office PowerPoint</Application>
  <PresentationFormat>Widescreen</PresentationFormat>
  <Paragraphs>39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Cambria Math</vt:lpstr>
      <vt:lpstr>Gill Sans MT</vt:lpstr>
      <vt:lpstr>Gallery</vt:lpstr>
      <vt:lpstr>Gen-AI Evaluation Metrics for  time-series data</vt:lpstr>
      <vt:lpstr>Gen-AI Evaluation Metrics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Gen-AI Evaluation Metrics for  time-series data</dc:title>
  <dc:creator>FIXED-TERM Lim James (BD/SIX-AP)</dc:creator>
  <cp:lastModifiedBy>FIXED-TERM Lim James (BD/SIX-AP)</cp:lastModifiedBy>
  <cp:revision>16</cp:revision>
  <dcterms:created xsi:type="dcterms:W3CDTF">2023-10-16T02:56:10Z</dcterms:created>
  <dcterms:modified xsi:type="dcterms:W3CDTF">2023-10-16T04:19:03Z</dcterms:modified>
</cp:coreProperties>
</file>
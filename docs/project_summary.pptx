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57" r:id="rId3"/>
    <p:sldId id="258" r:id="rId4"/>
    <p:sldId id="260" r:id="rId5"/>
    <p:sldId id="261" r:id="rId6"/>
    <p:sldId id="262" r:id="rId7"/>
    <p:sldId id="264" r:id="rId8"/>
    <p:sldId id="263" r:id="rId9"/>
    <p:sldId id="265" r:id="rId10"/>
    <p:sldId id="270" r:id="rId11"/>
    <p:sldId id="266" r:id="rId12"/>
    <p:sldId id="269"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67"/>
    <p:restoredTop sz="77212"/>
  </p:normalViewPr>
  <p:slideViewPr>
    <p:cSldViewPr snapToGrid="0">
      <p:cViewPr varScale="1">
        <p:scale>
          <a:sx n="103" d="100"/>
          <a:sy n="103" d="100"/>
        </p:scale>
        <p:origin x="2168"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78A4E-BCC8-3947-A803-1674A4A4112E}"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885368-1298-7442-A601-CB272E853126}" type="slidenum">
              <a:rPr lang="en-US" smtClean="0"/>
              <a:t>‹#›</a:t>
            </a:fld>
            <a:endParaRPr lang="en-US"/>
          </a:p>
        </p:txBody>
      </p:sp>
    </p:spTree>
    <p:extLst>
      <p:ext uri="{BB962C8B-B14F-4D97-AF65-F5344CB8AC3E}">
        <p14:creationId xmlns:p14="http://schemas.microsoft.com/office/powerpoint/2010/main" val="89181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Good afternoon, everyone. </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My name is James Lim.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Today, I would like to share about my background details in pursuant to my application for Big Data Analysis Engineer.</a:t>
            </a:r>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1</a:t>
            </a:fld>
            <a:endParaRPr lang="en-US"/>
          </a:p>
        </p:txBody>
      </p:sp>
    </p:spTree>
    <p:extLst>
      <p:ext uri="{BB962C8B-B14F-4D97-AF65-F5344CB8AC3E}">
        <p14:creationId xmlns:p14="http://schemas.microsoft.com/office/powerpoint/2010/main" val="1839401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In order to better introduce myself, I have prepared a slide deck that consolidates details about my background, project achievement, and overview of research work. </a:t>
            </a:r>
          </a:p>
          <a:p>
            <a:pPr marL="171450" lvl="0" indent="-171450">
              <a:buFont typeface="Arial" panose="020B0604020202020204" pitchFamily="34" charset="0"/>
              <a:buChar char="•"/>
            </a:pPr>
            <a:r>
              <a:rPr lang="en-SG" sz="1200" kern="1200" dirty="0">
                <a:solidFill>
                  <a:schemeClr val="tx1"/>
                </a:solidFill>
                <a:effectLst/>
                <a:latin typeface="+mn-lt"/>
                <a:ea typeface="+mn-ea"/>
                <a:cs typeface="+mn-cs"/>
              </a:rPr>
              <a:t>Under background, I will lightly touch upon the overview of my work experience, education, and career aspirations. </a:t>
            </a:r>
          </a:p>
          <a:p>
            <a:pPr marL="171450" lvl="0" indent="-171450">
              <a:buFont typeface="Arial" panose="020B0604020202020204" pitchFamily="34" charset="0"/>
              <a:buChar char="•"/>
            </a:pPr>
            <a:r>
              <a:rPr lang="en-SG" sz="1200" kern="1200" dirty="0">
                <a:solidFill>
                  <a:schemeClr val="tx1"/>
                </a:solidFill>
                <a:effectLst/>
                <a:latin typeface="+mn-lt"/>
                <a:ea typeface="+mn-ea"/>
                <a:cs typeface="+mn-cs"/>
              </a:rPr>
              <a:t>Under project achievement, I will elaborate in details on a successful end-to-end project that I spearheaded during one of my internships.</a:t>
            </a:r>
          </a:p>
          <a:p>
            <a:pPr marL="171450" lvl="0" indent="-171450">
              <a:buFont typeface="Arial" panose="020B0604020202020204" pitchFamily="34" charset="0"/>
              <a:buChar char="•"/>
            </a:pPr>
            <a:r>
              <a:rPr lang="en-SG" sz="1200" kern="1200" dirty="0">
                <a:solidFill>
                  <a:schemeClr val="tx1"/>
                </a:solidFill>
                <a:effectLst/>
                <a:latin typeface="+mn-lt"/>
                <a:ea typeface="+mn-ea"/>
                <a:cs typeface="+mn-cs"/>
              </a:rPr>
              <a:t>Under overview of research work, I will also elaborate in details on 1 research publication which I personally feel to be most rewarding as well as most relevant to the role am applying now.</a:t>
            </a:r>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2</a:t>
            </a:fld>
            <a:endParaRPr lang="en-US"/>
          </a:p>
        </p:txBody>
      </p:sp>
    </p:spTree>
    <p:extLst>
      <p:ext uri="{BB962C8B-B14F-4D97-AF65-F5344CB8AC3E}">
        <p14:creationId xmlns:p14="http://schemas.microsoft.com/office/powerpoint/2010/main" val="234888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u="sng" kern="1200" dirty="0">
                <a:solidFill>
                  <a:schemeClr val="tx1"/>
                </a:solidFill>
                <a:effectLst/>
                <a:latin typeface="+mn-lt"/>
                <a:ea typeface="+mn-ea"/>
                <a:cs typeface="+mn-cs"/>
              </a:rPr>
              <a:t>Introduction (1 minute):</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I'm excited to share a bit about myself today.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I'll be covering my personal background, educational journey, professional experience, key skills, notable projects, and my future goals.</a:t>
            </a: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Personal Background (1 minute):</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was born and raised in Indonesia.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After high school, I moved to Singapore in 2013 to pursue my Bachelor Study at NTU and have been living here for more than 12 years.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 couple of months ago, I was granted Singapore PR status, back in May 2025, which am very happy about.</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From a young age, I was fascinated by how things work, which naturally led me to pursue a career in engineering and technology.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Outside of work, I have a keen interest in astronomy which I picked up naturally during my study as I previously served as the Chairperson of the NTU Astronomy Society</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enjoyed observing the moon, stars, and galaxies through telescopes.</a:t>
            </a: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Educational Journey (2 minutes):</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For my educational journey, I earned a Bachelor's degree in Electrical and Electronic Engineering with First Class Honours from NTU back in 2017.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In 2024, I earned a Master's degree in Data Science and Machine Learning from NUS.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During this period, I delved deep into various aspects of machine learning, big data technologies, and natural language processing.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My academic experiences not only enriched my technical knowledge but also honed my research skills, where I co-authored an award-winning paper at 2024 ACM WWW conference</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will cover in more in-depth about this research work in subsequent slides.</a:t>
            </a: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Professional Experience (3 minutes):</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have accumulated diverse professional experience across several esteemed organizations.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As a Lead Data Scientist and Algorithm Engineer at Micron Technology, I led a team to develop product quality test programs and develop ML models to improve quality and save costs.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At Hewlett Packard Enterprise, as an AI Research Intern focusing on NLP and Large Language Models, I co-authored a research paper and developed innovative Python pipelines integrating various NLP libraries to evaluate top LLMs.</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During my internship at Robert Bosch, I spearheaded the development of a time-series Generative AI model for predictive maintenance, which drastically reduced machine downtime and maintenance costs.</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Am currently attached to Amgen (a pharma company) as a Specialist Data Scientist where I was hired to establish Data Science function from 0 to 1. </a:t>
            </a:r>
          </a:p>
          <a:p>
            <a:pPr marL="628650" lvl="1" indent="-171450">
              <a:buFont typeface="Arial" panose="020B0604020202020204" pitchFamily="34" charset="0"/>
              <a:buChar char="•"/>
            </a:pPr>
            <a:r>
              <a:rPr lang="en-SG" sz="1200" kern="1200" dirty="0">
                <a:solidFill>
                  <a:schemeClr val="tx1"/>
                </a:solidFill>
                <a:effectLst/>
                <a:latin typeface="+mn-lt"/>
                <a:ea typeface="+mn-ea"/>
                <a:cs typeface="+mn-cs"/>
              </a:rPr>
              <a:t>Within the span of 1 year since I joined Amgen, I had personally delivered more than 20 Data Analytics/AI solutions, established data governance framework, and conducted monthly Data Analytics technical sharing sessions to all staffs as part of Digital Upskilling program that I proposed to my Director. </a:t>
            </a:r>
          </a:p>
          <a:p>
            <a:pPr marL="628650" lvl="1" indent="-171450">
              <a:buFont typeface="Arial" panose="020B0604020202020204" pitchFamily="34" charset="0"/>
              <a:buChar char="•"/>
            </a:pPr>
            <a:r>
              <a:rPr lang="en-SG" sz="1200" kern="1200" dirty="0">
                <a:solidFill>
                  <a:schemeClr val="tx1"/>
                </a:solidFill>
                <a:effectLst/>
                <a:latin typeface="+mn-lt"/>
                <a:ea typeface="+mn-ea"/>
                <a:cs typeface="+mn-cs"/>
              </a:rPr>
              <a:t>As a team, my Data Science team had delivered close to 90 Data Analytics/AI solutions within the same span since I joined the company.</a:t>
            </a:r>
          </a:p>
          <a:p>
            <a:endParaRPr lang="en-SG" sz="1200"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I’ve really enjoyed my time at Amgen, where I led several impactful analytics projects, but I’d now like to take on new challenges in a different industry. </a:t>
            </a:r>
          </a:p>
          <a:p>
            <a:r>
              <a:rPr lang="en-SG" sz="1200" b="0" i="0" u="none" strike="noStrike" kern="1200" dirty="0">
                <a:solidFill>
                  <a:schemeClr val="tx1"/>
                </a:solidFill>
                <a:effectLst/>
                <a:latin typeface="+mn-lt"/>
                <a:ea typeface="+mn-ea"/>
                <a:cs typeface="+mn-cs"/>
              </a:rPr>
              <a:t>Huawei offers the opportunity to work with massive telecom datasets, build service growth models, and contribute to an ecosystem that operates at global scale. </a:t>
            </a:r>
          </a:p>
          <a:p>
            <a:r>
              <a:rPr lang="en-SG" sz="1200" b="0" i="0" u="none" strike="noStrike" kern="1200" dirty="0">
                <a:solidFill>
                  <a:schemeClr val="tx1"/>
                </a:solidFill>
                <a:effectLst/>
                <a:latin typeface="+mn-lt"/>
                <a:ea typeface="+mn-ea"/>
                <a:cs typeface="+mn-cs"/>
              </a:rPr>
              <a:t>I see this as a chance to expand my expertise, take on more complex data problems, and grow in a dynamic environment.</a:t>
            </a:r>
          </a:p>
          <a:p>
            <a:r>
              <a:rPr lang="en-SG" sz="1200" b="0" i="0" u="none" strike="noStrike" kern="1200" dirty="0">
                <a:solidFill>
                  <a:schemeClr val="tx1"/>
                </a:solidFill>
                <a:effectLst/>
                <a:latin typeface="+mn-lt"/>
                <a:ea typeface="+mn-ea"/>
                <a:cs typeface="+mn-cs"/>
              </a:rPr>
              <a:t>***</a:t>
            </a:r>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Key Skills and Expertise (1 minute):</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My technical skill set includes proficiency in programming languages such as Python, and C++; and expertise in data science techniques like A/B testing, anomaly detection, data engineering, and statistics.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have a strong command of big data technologies, including Spark and Databricks.</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I'm well-versed in DevOps and </a:t>
            </a:r>
            <a:r>
              <a:rPr lang="en-SG" sz="1200" kern="1200" dirty="0" err="1">
                <a:solidFill>
                  <a:schemeClr val="tx1"/>
                </a:solidFill>
                <a:effectLst/>
                <a:latin typeface="+mn-lt"/>
                <a:ea typeface="+mn-ea"/>
                <a:cs typeface="+mn-cs"/>
              </a:rPr>
              <a:t>MLOps</a:t>
            </a:r>
            <a:r>
              <a:rPr lang="en-SG" sz="1200" kern="1200" dirty="0">
                <a:solidFill>
                  <a:schemeClr val="tx1"/>
                </a:solidFill>
                <a:effectLst/>
                <a:latin typeface="+mn-lt"/>
                <a:ea typeface="+mn-ea"/>
                <a:cs typeface="+mn-cs"/>
              </a:rPr>
              <a:t> tools, such as AWS, TensorFlow, and </a:t>
            </a:r>
            <a:r>
              <a:rPr lang="en-SG" sz="1200" kern="1200" dirty="0" err="1">
                <a:solidFill>
                  <a:schemeClr val="tx1"/>
                </a:solidFill>
                <a:effectLst/>
                <a:latin typeface="+mn-lt"/>
                <a:ea typeface="+mn-ea"/>
                <a:cs typeface="+mn-cs"/>
              </a:rPr>
              <a:t>PyTorch</a:t>
            </a:r>
            <a:r>
              <a:rPr lang="en-SG"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also have capabilities on Data Visualization using tools like </a:t>
            </a:r>
            <a:r>
              <a:rPr lang="en-SG" sz="1200" kern="1200" dirty="0" err="1">
                <a:solidFill>
                  <a:schemeClr val="tx1"/>
                </a:solidFill>
                <a:effectLst/>
                <a:latin typeface="+mn-lt"/>
                <a:ea typeface="+mn-ea"/>
                <a:cs typeface="+mn-cs"/>
              </a:rPr>
              <a:t>PowerBI</a:t>
            </a:r>
            <a:r>
              <a:rPr lang="en-SG" sz="1200" kern="1200" dirty="0">
                <a:solidFill>
                  <a:schemeClr val="tx1"/>
                </a:solidFill>
                <a:effectLst/>
                <a:latin typeface="+mn-lt"/>
                <a:ea typeface="+mn-ea"/>
                <a:cs typeface="+mn-cs"/>
              </a:rPr>
              <a:t>, Tableau, </a:t>
            </a:r>
            <a:r>
              <a:rPr lang="en-SG" sz="1200" kern="1200" dirty="0" err="1">
                <a:solidFill>
                  <a:schemeClr val="tx1"/>
                </a:solidFill>
                <a:effectLst/>
                <a:latin typeface="+mn-lt"/>
                <a:ea typeface="+mn-ea"/>
                <a:cs typeface="+mn-cs"/>
              </a:rPr>
              <a:t>SmartSheet</a:t>
            </a:r>
            <a:r>
              <a:rPr lang="en-SG" sz="1200" kern="1200" dirty="0">
                <a:solidFill>
                  <a:schemeClr val="tx1"/>
                </a:solidFill>
                <a:effectLst/>
                <a:latin typeface="+mn-lt"/>
                <a:ea typeface="+mn-ea"/>
                <a:cs typeface="+mn-cs"/>
              </a:rPr>
              <a:t>, and </a:t>
            </a:r>
            <a:r>
              <a:rPr lang="en-SG" sz="1200" kern="1200" dirty="0" err="1">
                <a:solidFill>
                  <a:schemeClr val="tx1"/>
                </a:solidFill>
                <a:effectLst/>
                <a:latin typeface="+mn-lt"/>
                <a:ea typeface="+mn-ea"/>
                <a:cs typeface="+mn-cs"/>
              </a:rPr>
              <a:t>SpotFire</a:t>
            </a:r>
            <a:r>
              <a:rPr lang="en-SG"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Last but not least, I always successfully manage the workload of my Data Science team using Agile approach where there is clear mention about project planning, assignment, complexity level assessment, and timeline communication to stakeholders.</a:t>
            </a: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Future Goals (1 minute):</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My long-term career goal is to grow into a versatile professional across Big Data Analytics, Data Science, and AI/ML, where I can design scalable systems and extract insights that drive real business impact. </a:t>
            </a:r>
          </a:p>
          <a:p>
            <a:pPr marL="171450"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I see Huawei as the ideal place to advance this path, given its global scale, complex data ecosystems, and focus on innovation.</a:t>
            </a:r>
          </a:p>
          <a:p>
            <a:endParaRPr lang="en-SG" sz="1200" kern="1200" dirty="0">
              <a:solidFill>
                <a:schemeClr val="tx1"/>
              </a:solidFill>
              <a:effectLst/>
              <a:latin typeface="+mn-lt"/>
              <a:ea typeface="+mn-ea"/>
              <a:cs typeface="+mn-cs"/>
            </a:endParaRPr>
          </a:p>
          <a:p>
            <a:r>
              <a:rPr lang="en-SG" sz="1200" u="sng" kern="1200" dirty="0">
                <a:solidFill>
                  <a:schemeClr val="tx1"/>
                </a:solidFill>
                <a:effectLst/>
                <a:latin typeface="+mn-lt"/>
                <a:ea typeface="+mn-ea"/>
                <a:cs typeface="+mn-cs"/>
              </a:rPr>
              <a:t>Conclusion (1 minute):</a:t>
            </a: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In conclusion, my journey so far has been driven by a passion for technology and innovation.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am eager to leverage my skills and experiences to contribute to exciting projects and continue growing in my career.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Before I move on to explain about my project achievements and research work, do you have any question for me?</a:t>
            </a: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3</a:t>
            </a:fld>
            <a:endParaRPr lang="en-US"/>
          </a:p>
        </p:txBody>
      </p:sp>
    </p:spTree>
    <p:extLst>
      <p:ext uri="{BB962C8B-B14F-4D97-AF65-F5344CB8AC3E}">
        <p14:creationId xmlns:p14="http://schemas.microsoft.com/office/powerpoint/2010/main" val="112939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Next, for my project achievement, I will be discussing my generative AI experience at Robert Bosch, that specifically focuses on the implementation and training of the </a:t>
            </a:r>
            <a:r>
              <a:rPr lang="en-SG" sz="1200" kern="1200" dirty="0" err="1">
                <a:solidFill>
                  <a:schemeClr val="tx1"/>
                </a:solidFill>
                <a:effectLst/>
                <a:latin typeface="+mn-lt"/>
                <a:ea typeface="+mn-ea"/>
                <a:cs typeface="+mn-cs"/>
              </a:rPr>
              <a:t>DoppelGANger</a:t>
            </a:r>
            <a:r>
              <a:rPr lang="en-SG" sz="1200" kern="1200" dirty="0">
                <a:solidFill>
                  <a:schemeClr val="tx1"/>
                </a:solidFill>
                <a:effectLst/>
                <a:latin typeface="+mn-lt"/>
                <a:ea typeface="+mn-ea"/>
                <a:cs typeface="+mn-cs"/>
              </a:rPr>
              <a:t> model for generating synthetic data.</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Let’s understand about the project background first.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So, the situation at the time was that Bosch plant in Singapore bought CNC machines which are exactly the same as those used in Bosch plant in China.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And CNC machines are machines for drilling and grinding materials like steel.</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For the maintenance, fixed schedule was implemented where we invited external vendor to come down to our manufacturing floor to check if there is any machine breakdown.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Most often than not, the machines are okay so it means there are many false positives.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On the flip side, when the machine actually breaks down, it will take some time to get these external vendors to fix the issue, and therefore costing huge machine down time and cost.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is the first pain point.</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The second pain point is that there was a tight legal regulation regarding massive cross-border data transfer from Bosch plant in China to anywhere outside China.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Therefore, we did not have sufficient machine failure data to train on.</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That’s why the objective of the project is to learn latent failure characteristic on minimal machine failure data from Bosch plant in China and generate synthetic time-series data using GenAI model.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Second objective is to implement predictive maintenance before actual machine breakdown.</a:t>
            </a: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4</a:t>
            </a:fld>
            <a:endParaRPr lang="en-US"/>
          </a:p>
        </p:txBody>
      </p:sp>
    </p:spTree>
    <p:extLst>
      <p:ext uri="{BB962C8B-B14F-4D97-AF65-F5344CB8AC3E}">
        <p14:creationId xmlns:p14="http://schemas.microsoft.com/office/powerpoint/2010/main" val="1868308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We started with data preparation, involving cleaning and normalizing the vibration dataset to ensure consistency.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step was crucial to remove any noise and inconsistencies that could affect the model's performance.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Data imputation was applied to maintain uniform sequence lengths across all samples, ensuring that each data point had the same sequence length of time series data.</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Next, we configured the model parameters.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involved setting key parameters like the sample length, batch size, epochs, and the number of hidden layers and hidden units in both the generator and discriminator networks.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Proper configuration of these parameters is essential for balancing the model's performance and training time.</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During the training phase, we leveraged GPU capabilities to speed up the process significantly.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 training was performed using custom loss functions.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So on top of usual loss functions for GAN, I added KL divergence and spectral loss.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These loss functions were crucial in ensuring that the generated data not only looked realistic but also preserved the statistical properties of the original dataset.</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For optimization, we used the Adam optimizer, known for its efficiency and adaptability.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also implemented sinusoidal-decaying learning rates to prevent the model from getting stuck in local minima and to ensure stable training throughout the epochs.</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After training, the </a:t>
            </a:r>
            <a:r>
              <a:rPr lang="en-SG" sz="1200" kern="1200" dirty="0" err="1">
                <a:solidFill>
                  <a:schemeClr val="tx1"/>
                </a:solidFill>
                <a:effectLst/>
                <a:latin typeface="+mn-lt"/>
                <a:ea typeface="+mn-ea"/>
                <a:cs typeface="+mn-cs"/>
              </a:rPr>
              <a:t>DoppelGANger</a:t>
            </a:r>
            <a:r>
              <a:rPr lang="en-SG" sz="1200" kern="1200" dirty="0">
                <a:solidFill>
                  <a:schemeClr val="tx1"/>
                </a:solidFill>
                <a:effectLst/>
                <a:latin typeface="+mn-lt"/>
                <a:ea typeface="+mn-ea"/>
                <a:cs typeface="+mn-cs"/>
              </a:rPr>
              <a:t> model was used to generate synthetic data.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synthetic data was evaluated using various statistical metrics to ensure it closely matched the properties of the real data.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Visual comparisons, such as histograms and KDE plots, were also used to verify the quality of the generated data.</a:t>
            </a: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5</a:t>
            </a:fld>
            <a:endParaRPr lang="en-US"/>
          </a:p>
        </p:txBody>
      </p:sp>
    </p:spTree>
    <p:extLst>
      <p:ext uri="{BB962C8B-B14F-4D97-AF65-F5344CB8AC3E}">
        <p14:creationId xmlns:p14="http://schemas.microsoft.com/office/powerpoint/2010/main" val="1138911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The </a:t>
            </a:r>
            <a:r>
              <a:rPr lang="en-SG" sz="1200" kern="1200" dirty="0" err="1">
                <a:solidFill>
                  <a:schemeClr val="tx1"/>
                </a:solidFill>
                <a:effectLst/>
                <a:latin typeface="+mn-lt"/>
                <a:ea typeface="+mn-ea"/>
                <a:cs typeface="+mn-cs"/>
              </a:rPr>
              <a:t>DoppelGANger</a:t>
            </a:r>
            <a:r>
              <a:rPr lang="en-SG" sz="1200" kern="1200" dirty="0">
                <a:solidFill>
                  <a:schemeClr val="tx1"/>
                </a:solidFill>
                <a:effectLst/>
                <a:latin typeface="+mn-lt"/>
                <a:ea typeface="+mn-ea"/>
                <a:cs typeface="+mn-cs"/>
              </a:rPr>
              <a:t> model is structured as a GAN, with a generator and discriminator network.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 generator creates synthetic data, while the discriminator evaluates the authenticity of the data.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By training these networks together, the generator improves its ability to produce realistic data over time.</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We incorporated custom loss functions to improve performance.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 KL divergence loss was used to measure the difference between the distributions of real and synthetic data.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Additionally, spectral loss was used to ensure the generated data maintained the frequency characteristics of the original data.</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During training, we prepared data in batches using </a:t>
            </a:r>
            <a:r>
              <a:rPr lang="en-SG" sz="1200" kern="1200" dirty="0" err="1">
                <a:solidFill>
                  <a:schemeClr val="tx1"/>
                </a:solidFill>
                <a:effectLst/>
                <a:latin typeface="+mn-lt"/>
                <a:ea typeface="+mn-ea"/>
                <a:cs typeface="+mn-cs"/>
              </a:rPr>
              <a:t>DataLoader</a:t>
            </a:r>
            <a:r>
              <a:rPr lang="en-SG" sz="1200" kern="1200" dirty="0">
                <a:solidFill>
                  <a:schemeClr val="tx1"/>
                </a:solidFill>
                <a:effectLst/>
                <a:latin typeface="+mn-lt"/>
                <a:ea typeface="+mn-ea"/>
                <a:cs typeface="+mn-cs"/>
              </a:rPr>
              <a:t>, which is efficient for handling large datasets.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Gradient penalty was applied to enhance the discriminator's performance by ensuring it learned a smooth decision boundary.</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We logged generator and discriminator losses using </a:t>
            </a:r>
            <a:r>
              <a:rPr lang="en-SG" sz="1200" kern="1200" dirty="0" err="1">
                <a:solidFill>
                  <a:schemeClr val="tx1"/>
                </a:solidFill>
                <a:effectLst/>
                <a:latin typeface="+mn-lt"/>
                <a:ea typeface="+mn-ea"/>
                <a:cs typeface="+mn-cs"/>
              </a:rPr>
              <a:t>TensorBoard</a:t>
            </a:r>
            <a:r>
              <a:rPr lang="en-SG" sz="1200" kern="1200" dirty="0">
                <a:solidFill>
                  <a:schemeClr val="tx1"/>
                </a:solidFill>
                <a:effectLst/>
                <a:latin typeface="+mn-lt"/>
                <a:ea typeface="+mn-ea"/>
                <a:cs typeface="+mn-cs"/>
              </a:rPr>
              <a:t>, which provided real-time insights into the training process.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allowed us to monitor the model's performance and make adjustments as needed.</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We implemented checkpointing to save model states at regular intervals.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was important for ensuring we could resume training in case of interruptions.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also identified and saved the best model based on loss metrics, ensuring we had the most accurate model available.</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For synthetic data generation, we used noise vectors to generate new data points.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These noise vectors were transformed into synthetic data that closely matched the properties of the original dataset.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Post-processing was then performed to convert the internal representations back to the original data format, making the synthetic data ready for use.</a:t>
            </a:r>
          </a:p>
          <a:p>
            <a:r>
              <a:rPr lang="en-SG" sz="1200" kern="1200" dirty="0">
                <a:solidFill>
                  <a:schemeClr val="tx1"/>
                </a:solidFill>
                <a:effectLst/>
                <a:latin typeface="+mn-lt"/>
                <a:ea typeface="+mn-ea"/>
                <a:cs typeface="+mn-cs"/>
              </a:rPr>
              <a:t> </a:t>
            </a:r>
          </a:p>
          <a:p>
            <a:r>
              <a:rPr lang="en-SG" sz="1200" kern="1200" dirty="0">
                <a:solidFill>
                  <a:schemeClr val="tx1"/>
                </a:solidFill>
                <a:effectLst/>
                <a:latin typeface="+mn-lt"/>
                <a:ea typeface="+mn-ea"/>
                <a:cs typeface="+mn-cs"/>
              </a:rPr>
              <a:t>Upon going through numerous iterations of hyper parameter tuning, I saved the model parameters and construct Docker file with all libraries involved along with algorithm to load trained model parameters, performing inference, and similarity computation against real-time machine sensory data in manufacturing line.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Whenever any machine starts to exhibit similar characteristics of machine failure, we would trigger external vendor to perform maintenance immediately to prolong operational time of the machine.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I created web application using Dash and </a:t>
            </a:r>
            <a:r>
              <a:rPr lang="en-SG" sz="1200" kern="1200" dirty="0" err="1">
                <a:solidFill>
                  <a:schemeClr val="tx1"/>
                </a:solidFill>
                <a:effectLst/>
                <a:latin typeface="+mn-lt"/>
                <a:ea typeface="+mn-ea"/>
                <a:cs typeface="+mn-cs"/>
              </a:rPr>
              <a:t>plotly</a:t>
            </a:r>
            <a:r>
              <a:rPr lang="en-SG" sz="1200" kern="1200" dirty="0">
                <a:solidFill>
                  <a:schemeClr val="tx1"/>
                </a:solidFill>
                <a:effectLst/>
                <a:latin typeface="+mn-lt"/>
                <a:ea typeface="+mn-ea"/>
                <a:cs typeface="+mn-cs"/>
              </a:rPr>
              <a:t> package in python to provide visualization GUI to users for monitoring purpose.</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The outcome of this  project was that the predictive maintenance model was able to save about 48-hour downtime and SGD 10,000 cost per machine.</a:t>
            </a: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6</a:t>
            </a:fld>
            <a:endParaRPr lang="en-US"/>
          </a:p>
        </p:txBody>
      </p:sp>
    </p:spTree>
    <p:extLst>
      <p:ext uri="{BB962C8B-B14F-4D97-AF65-F5344CB8AC3E}">
        <p14:creationId xmlns:p14="http://schemas.microsoft.com/office/powerpoint/2010/main" val="3014546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[Impromptu]</a:t>
            </a:r>
          </a:p>
        </p:txBody>
      </p:sp>
      <p:sp>
        <p:nvSpPr>
          <p:cNvPr id="4" name="Slide Number Placeholder 3"/>
          <p:cNvSpPr>
            <a:spLocks noGrp="1"/>
          </p:cNvSpPr>
          <p:nvPr>
            <p:ph type="sldNum" sz="quarter" idx="5"/>
          </p:nvPr>
        </p:nvSpPr>
        <p:spPr/>
        <p:txBody>
          <a:bodyPr/>
          <a:lstStyle/>
          <a:p>
            <a:fld id="{C7885368-1298-7442-A601-CB272E853126}" type="slidenum">
              <a:rPr lang="en-US" smtClean="0"/>
              <a:t>7</a:t>
            </a:fld>
            <a:endParaRPr lang="en-US"/>
          </a:p>
        </p:txBody>
      </p:sp>
    </p:spTree>
    <p:extLst>
      <p:ext uri="{BB962C8B-B14F-4D97-AF65-F5344CB8AC3E}">
        <p14:creationId xmlns:p14="http://schemas.microsoft.com/office/powerpoint/2010/main" val="1028619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I will present our research on </a:t>
            </a:r>
            <a:r>
              <a:rPr lang="en-SG" sz="1200" kern="1200" dirty="0" err="1">
                <a:solidFill>
                  <a:schemeClr val="tx1"/>
                </a:solidFill>
                <a:effectLst/>
                <a:latin typeface="+mn-lt"/>
                <a:ea typeface="+mn-ea"/>
                <a:cs typeface="+mn-cs"/>
              </a:rPr>
              <a:t>SubLIME</a:t>
            </a:r>
            <a:r>
              <a:rPr lang="en-SG" sz="1200" kern="1200" dirty="0">
                <a:solidFill>
                  <a:schemeClr val="tx1"/>
                </a:solidFill>
                <a:effectLst/>
                <a:latin typeface="+mn-lt"/>
                <a:ea typeface="+mn-ea"/>
                <a:cs typeface="+mn-cs"/>
              </a:rPr>
              <a:t>, an adaptive sampling strategy for efficient LLM evaluation. </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With the rapid growth of large language models, we now have over 400,000 models on platforms like </a:t>
            </a:r>
            <a:r>
              <a:rPr lang="en-SG" sz="1200" kern="1200" dirty="0" err="1">
                <a:solidFill>
                  <a:schemeClr val="tx1"/>
                </a:solidFill>
                <a:effectLst/>
                <a:latin typeface="+mn-lt"/>
                <a:ea typeface="+mn-ea"/>
                <a:cs typeface="+mn-cs"/>
              </a:rPr>
              <a:t>HuggingFace</a:t>
            </a:r>
            <a:r>
              <a:rPr lang="en-SG" sz="1200" kern="1200" dirty="0">
                <a:solidFill>
                  <a:schemeClr val="tx1"/>
                </a:solidFill>
                <a:effectLst/>
                <a:latin typeface="+mn-lt"/>
                <a:ea typeface="+mn-ea"/>
                <a:cs typeface="+mn-cs"/>
              </a:rPr>
              <a:t> and about 3,000 models on the Open LLM Leaderboard.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Evaluating these models is both computationally expensive and time-consuming.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 financial burden is significant, from the HELM project done by Stanford, which spent around $50,000 on evaluating just 30 models.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Our solution, </a:t>
            </a:r>
            <a:r>
              <a:rPr lang="en-SG" sz="1200" kern="1200" dirty="0" err="1">
                <a:solidFill>
                  <a:schemeClr val="tx1"/>
                </a:solidFill>
                <a:effectLst/>
                <a:latin typeface="+mn-lt"/>
                <a:ea typeface="+mn-ea"/>
                <a:cs typeface="+mn-cs"/>
              </a:rPr>
              <a:t>SubLIME</a:t>
            </a:r>
            <a:r>
              <a:rPr lang="en-SG" sz="1200" kern="1200" dirty="0">
                <a:solidFill>
                  <a:schemeClr val="tx1"/>
                </a:solidFill>
                <a:effectLst/>
                <a:latin typeface="+mn-lt"/>
                <a:ea typeface="+mn-ea"/>
                <a:cs typeface="+mn-cs"/>
              </a:rPr>
              <a:t>, addresses this challenge by introducing an adaptive sampling strategy that significantly reduces evaluation costs while maintaining the integrity of model rankings.</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Our research makes several key contributions.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First, we found that quality-based sampling consistently yields strong correlations in preserving LLM ranking, between 0.85 to 0.95, with the full datasets even at a 10% sampling rate. </a:t>
            </a:r>
          </a:p>
          <a:p>
            <a:pPr marL="628650" lvl="1" indent="-171450">
              <a:buFont typeface="Arial" panose="020B0604020202020204" pitchFamily="34" charset="0"/>
              <a:buChar char="•"/>
            </a:pPr>
            <a:r>
              <a:rPr lang="en-SG" sz="1200" kern="1200" dirty="0">
                <a:solidFill>
                  <a:schemeClr val="tx1"/>
                </a:solidFill>
                <a:effectLst/>
                <a:latin typeface="+mn-lt"/>
                <a:ea typeface="+mn-ea"/>
                <a:cs typeface="+mn-cs"/>
              </a:rPr>
              <a:t>This means we can evaluate models with a fraction of the data without losing accuracy.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Second, clustering methods, though not universally best, they excel in specific benchmarks, making them valuable tools in certain contexts.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Lastly, our adaptive sampling framework dynamically selects the optimal technique for each benchmark, to ensure statistically aligned LLM ranks with significantly reduced costs.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adaptability is crucial for handling the diverse and evolving landscape of LLMs.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8</a:t>
            </a:fld>
            <a:endParaRPr lang="en-US"/>
          </a:p>
        </p:txBody>
      </p:sp>
    </p:spTree>
    <p:extLst>
      <p:ext uri="{BB962C8B-B14F-4D97-AF65-F5344CB8AC3E}">
        <p14:creationId xmlns:p14="http://schemas.microsoft.com/office/powerpoint/2010/main" val="1556677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We employed various sampling strategies in our research.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Random sampling served as our baseline, providing a simple yet effective comparison point.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For clustering-based sampling, we used methods like LDA, NMF, K-means, and Spectral Clustering.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For instance, Spectral Clustering with BERT embeddings proved effective in certain datasets, revealing hidden patterns and groupings.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Quality-based sampling evaluated metrics such as word length, diversity, and repetitiveness.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 Compound Probability Distribution (CPD) method, which integrates multiple quality metrics, was particularly effective in selecting high-quality subsets of data.</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Our experiments included benchmarks such as </a:t>
            </a:r>
            <a:r>
              <a:rPr lang="en-SG" sz="1200" kern="1200" dirty="0" err="1">
                <a:solidFill>
                  <a:schemeClr val="tx1"/>
                </a:solidFill>
                <a:effectLst/>
                <a:latin typeface="+mn-lt"/>
                <a:ea typeface="+mn-ea"/>
                <a:cs typeface="+mn-cs"/>
              </a:rPr>
              <a:t>TruthfulQA</a:t>
            </a:r>
            <a:r>
              <a:rPr lang="en-SG" sz="1200" kern="1200" dirty="0">
                <a:solidFill>
                  <a:schemeClr val="tx1"/>
                </a:solidFill>
                <a:effectLst/>
                <a:latin typeface="+mn-lt"/>
                <a:ea typeface="+mn-ea"/>
                <a:cs typeface="+mn-cs"/>
              </a:rPr>
              <a:t>, ARC, </a:t>
            </a:r>
            <a:r>
              <a:rPr lang="en-SG" sz="1200" kern="1200" dirty="0" err="1">
                <a:solidFill>
                  <a:schemeClr val="tx1"/>
                </a:solidFill>
                <a:effectLst/>
                <a:latin typeface="+mn-lt"/>
                <a:ea typeface="+mn-ea"/>
                <a:cs typeface="+mn-cs"/>
              </a:rPr>
              <a:t>Winogrande</a:t>
            </a:r>
            <a:r>
              <a:rPr lang="en-SG" sz="1200" kern="1200" dirty="0">
                <a:solidFill>
                  <a:schemeClr val="tx1"/>
                </a:solidFill>
                <a:effectLst/>
                <a:latin typeface="+mn-lt"/>
                <a:ea typeface="+mn-ea"/>
                <a:cs typeface="+mn-cs"/>
              </a:rPr>
              <a:t>, GSM8k, MMLU, and </a:t>
            </a:r>
            <a:r>
              <a:rPr lang="en-SG" sz="1200" kern="1200" dirty="0" err="1">
                <a:solidFill>
                  <a:schemeClr val="tx1"/>
                </a:solidFill>
                <a:effectLst/>
                <a:latin typeface="+mn-lt"/>
                <a:ea typeface="+mn-ea"/>
                <a:cs typeface="+mn-cs"/>
              </a:rPr>
              <a:t>Hellaswag</a:t>
            </a:r>
            <a:r>
              <a:rPr lang="en-SG"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selected these benchmarks to cover a wide range of evaluation scenarios, from factual correctness to complex mathematical and logical reasoning.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evaluated the top 50 models from the Open LLM Leaderboard, focusing on metrics like rank preservation and score distribution.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Sampling rates ranged from 1% to 100% at 1% increments, allowing us to thoroughly assess the impact of different sampling strategies.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9</a:t>
            </a:fld>
            <a:endParaRPr lang="en-US"/>
          </a:p>
        </p:txBody>
      </p:sp>
    </p:spTree>
    <p:extLst>
      <p:ext uri="{BB962C8B-B14F-4D97-AF65-F5344CB8AC3E}">
        <p14:creationId xmlns:p14="http://schemas.microsoft.com/office/powerpoint/2010/main" val="1966067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[Impromptu]</a:t>
            </a:r>
          </a:p>
        </p:txBody>
      </p:sp>
      <p:sp>
        <p:nvSpPr>
          <p:cNvPr id="4" name="Slide Number Placeholder 3"/>
          <p:cNvSpPr>
            <a:spLocks noGrp="1"/>
          </p:cNvSpPr>
          <p:nvPr>
            <p:ph type="sldNum" sz="quarter" idx="5"/>
          </p:nvPr>
        </p:nvSpPr>
        <p:spPr/>
        <p:txBody>
          <a:bodyPr/>
          <a:lstStyle/>
          <a:p>
            <a:fld id="{C7885368-1298-7442-A601-CB272E853126}" type="slidenum">
              <a:rPr lang="en-US" smtClean="0"/>
              <a:t>10</a:t>
            </a:fld>
            <a:endParaRPr lang="en-US"/>
          </a:p>
        </p:txBody>
      </p:sp>
    </p:spTree>
    <p:extLst>
      <p:ext uri="{BB962C8B-B14F-4D97-AF65-F5344CB8AC3E}">
        <p14:creationId xmlns:p14="http://schemas.microsoft.com/office/powerpoint/2010/main" val="2117997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Quality-based sampling methods, particularly those using CPD and spelling error metrics, performed exceptionally well.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These methods maintained high fidelity to the original data even with significant reductions in sample size.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Clustering methods like Spectral Clustering with MTEB and BERT embeddings also showed strong performance, particularly in benchmarks that require nuanced understanding.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Our adaptive sampling approach was highly effective, maintaining rank and score distributions while reducing evaluation times by up to 99% for benchmarks like MMLU.</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Our adaptive sampling framework dynamically selects the best sampling technique based on the characteristics of each benchmark.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approach uses statistical measures like the Pearson correlation to ensure that model rankings remain aligned between the sampled subset and the full dataset.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applied this framework in scenarios requiring efficient evaluation and in enhancing score distributions with difficulty-based sampling.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By adapting to the specific needs of each benchmark, our framework ensures optimal performance across a variety of tasks.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11</a:t>
            </a:fld>
            <a:endParaRPr lang="en-US"/>
          </a:p>
        </p:txBody>
      </p:sp>
    </p:spTree>
    <p:extLst>
      <p:ext uri="{BB962C8B-B14F-4D97-AF65-F5344CB8AC3E}">
        <p14:creationId xmlns:p14="http://schemas.microsoft.com/office/powerpoint/2010/main" val="2742049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[Impromptu]</a:t>
            </a:r>
          </a:p>
        </p:txBody>
      </p:sp>
      <p:sp>
        <p:nvSpPr>
          <p:cNvPr id="4" name="Slide Number Placeholder 3"/>
          <p:cNvSpPr>
            <a:spLocks noGrp="1"/>
          </p:cNvSpPr>
          <p:nvPr>
            <p:ph type="sldNum" sz="quarter" idx="5"/>
          </p:nvPr>
        </p:nvSpPr>
        <p:spPr/>
        <p:txBody>
          <a:bodyPr/>
          <a:lstStyle/>
          <a:p>
            <a:fld id="{C7885368-1298-7442-A601-CB272E853126}" type="slidenum">
              <a:rPr lang="en-US" smtClean="0"/>
              <a:t>12</a:t>
            </a:fld>
            <a:endParaRPr lang="en-US"/>
          </a:p>
        </p:txBody>
      </p:sp>
    </p:spTree>
    <p:extLst>
      <p:ext uri="{BB962C8B-B14F-4D97-AF65-F5344CB8AC3E}">
        <p14:creationId xmlns:p14="http://schemas.microsoft.com/office/powerpoint/2010/main" val="3460596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Difficulty sampling focuses on selecting the most challenging segments of benchmarks to enhance model differentiation.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We used readability indices such as the Dale Chall, Flesch, and Gunning Fog scores to identify and select complex queries.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For example, in </a:t>
            </a:r>
            <a:r>
              <a:rPr lang="en-SG" sz="1200" kern="1200" dirty="0" err="1">
                <a:solidFill>
                  <a:schemeClr val="tx1"/>
                </a:solidFill>
                <a:effectLst/>
                <a:latin typeface="+mn-lt"/>
                <a:ea typeface="+mn-ea"/>
                <a:cs typeface="+mn-cs"/>
              </a:rPr>
              <a:t>TruthfulQA</a:t>
            </a:r>
            <a:r>
              <a:rPr lang="en-SG" sz="1200" kern="1200" dirty="0">
                <a:solidFill>
                  <a:schemeClr val="tx1"/>
                </a:solidFill>
                <a:effectLst/>
                <a:latin typeface="+mn-lt"/>
                <a:ea typeface="+mn-ea"/>
                <a:cs typeface="+mn-cs"/>
              </a:rPr>
              <a:t>, we selected questions with higher difficulty scores to create a more discriminative evaluation.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approach ensures that we can effectively differentiate between models based on their ability to handle difficult and complex queries, providing deeper insights into their capabilities.</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In our experiments, rank preservation was measured using Pearson correlation coefficients, which were consistently high, exceeding 0.98 for benchmarks like MMLU.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This indicates that our sampling methods effectively maintained the relative rankings of models.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Score distribution was assessed using the Wasserstein Distance, which indicated well-preserved distributions. </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Adaptive sampling consistently delivered strong performance across various benchmarks, demonstrating its robustness and reliability in maintaining evaluation integrity.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13</a:t>
            </a:fld>
            <a:endParaRPr lang="en-US"/>
          </a:p>
        </p:txBody>
      </p:sp>
    </p:spTree>
    <p:extLst>
      <p:ext uri="{BB962C8B-B14F-4D97-AF65-F5344CB8AC3E}">
        <p14:creationId xmlns:p14="http://schemas.microsoft.com/office/powerpoint/2010/main" val="3657463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Our adaptive sampling strategy also addresses issues of unbalanced benchmarks by employing a balanced sampling approach to capture a wider array of tasks.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kern="1200" dirty="0">
                <a:solidFill>
                  <a:schemeClr val="tx1"/>
                </a:solidFill>
                <a:effectLst/>
                <a:latin typeface="+mn-lt"/>
                <a:ea typeface="+mn-ea"/>
                <a:cs typeface="+mn-cs"/>
              </a:rPr>
              <a:t>Additionally, it mitigates biases inherent in benchmarks, promoting fairer model comparisons.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kern="1200" dirty="0">
                <a:solidFill>
                  <a:schemeClr val="tx1"/>
                </a:solidFill>
                <a:effectLst/>
                <a:latin typeface="+mn-lt"/>
                <a:ea typeface="+mn-ea"/>
                <a:cs typeface="+mn-cs"/>
              </a:rPr>
              <a:t>For example, in coding benchmarks where Python dominates, our method ensures a more balanced representation across different programming languages.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kern="1200" dirty="0">
                <a:solidFill>
                  <a:schemeClr val="tx1"/>
                </a:solidFill>
                <a:effectLst/>
                <a:latin typeface="+mn-lt"/>
                <a:ea typeface="+mn-ea"/>
                <a:cs typeface="+mn-cs"/>
              </a:rPr>
              <a:t>This methodology opens new opportunities for sustainable and efficient LLM evaluations, providing a versatile tool for researchers and practitioners.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In conclusion, </a:t>
            </a:r>
            <a:r>
              <a:rPr lang="en-SG" sz="1200" kern="1200" dirty="0" err="1">
                <a:solidFill>
                  <a:schemeClr val="tx1"/>
                </a:solidFill>
                <a:effectLst/>
                <a:latin typeface="+mn-lt"/>
                <a:ea typeface="+mn-ea"/>
                <a:cs typeface="+mn-cs"/>
              </a:rPr>
              <a:t>SubLIME</a:t>
            </a:r>
            <a:r>
              <a:rPr lang="en-SG" sz="1200" kern="1200" dirty="0">
                <a:solidFill>
                  <a:schemeClr val="tx1"/>
                </a:solidFill>
                <a:effectLst/>
                <a:latin typeface="+mn-lt"/>
                <a:ea typeface="+mn-ea"/>
                <a:cs typeface="+mn-cs"/>
              </a:rPr>
              <a:t> presents a data-efficient and adaptive sampling strategy that significantly reduces evaluation costs while maintaining high fidelity in rank and score preservation.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kern="1200" dirty="0">
                <a:solidFill>
                  <a:schemeClr val="tx1"/>
                </a:solidFill>
                <a:effectLst/>
                <a:latin typeface="+mn-lt"/>
                <a:ea typeface="+mn-ea"/>
                <a:cs typeface="+mn-cs"/>
              </a:rPr>
              <a:t>This research paves the way for more sustainable methodologies in LLM evaluation and offers a framework for future research to explore adaptive and dynamic evaluation strategies further.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kern="1200" dirty="0">
                <a:solidFill>
                  <a:schemeClr val="tx1"/>
                </a:solidFill>
                <a:effectLst/>
                <a:latin typeface="+mn-lt"/>
                <a:ea typeface="+mn-ea"/>
                <a:cs typeface="+mn-cs"/>
              </a:rPr>
              <a:t>By reducing the computational and financial burden of LLM evaluation, </a:t>
            </a:r>
            <a:r>
              <a:rPr lang="en-SG" sz="1200" kern="1200" dirty="0" err="1">
                <a:solidFill>
                  <a:schemeClr val="tx1"/>
                </a:solidFill>
                <a:effectLst/>
                <a:latin typeface="+mn-lt"/>
                <a:ea typeface="+mn-ea"/>
                <a:cs typeface="+mn-cs"/>
              </a:rPr>
              <a:t>SubLIME</a:t>
            </a:r>
            <a:r>
              <a:rPr lang="en-SG" sz="1200" kern="1200" dirty="0">
                <a:solidFill>
                  <a:schemeClr val="tx1"/>
                </a:solidFill>
                <a:effectLst/>
                <a:latin typeface="+mn-lt"/>
                <a:ea typeface="+mn-ea"/>
                <a:cs typeface="+mn-cs"/>
              </a:rPr>
              <a:t> enables more frequent and comprehensive assessments of model performance.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Thank you for your attention.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I'm happy to answer any questions you may have.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7885368-1298-7442-A601-CB272E853126}" type="slidenum">
              <a:rPr lang="en-US" smtClean="0"/>
              <a:t>14</a:t>
            </a:fld>
            <a:endParaRPr lang="en-US"/>
          </a:p>
        </p:txBody>
      </p:sp>
    </p:spTree>
    <p:extLst>
      <p:ext uri="{BB962C8B-B14F-4D97-AF65-F5344CB8AC3E}">
        <p14:creationId xmlns:p14="http://schemas.microsoft.com/office/powerpoint/2010/main" val="1921144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0B4BFE4-3D07-0147-A3C1-AFDA1E1B7433}" type="datetimeFigureOut">
              <a:rPr lang="en-US" smtClean="0"/>
              <a:t>9/29/25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3FA8A51-A53E-B24C-82BB-E58ED227501F}"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4070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B4BFE4-3D07-0147-A3C1-AFDA1E1B7433}" type="datetimeFigureOut">
              <a:rPr lang="en-US" smtClean="0"/>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A8A51-A53E-B24C-82BB-E58ED227501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1595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B4BFE4-3D07-0147-A3C1-AFDA1E1B7433}" type="datetimeFigureOut">
              <a:rPr lang="en-US" smtClean="0"/>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A8A51-A53E-B24C-82BB-E58ED227501F}"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2313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0B4BFE4-3D07-0147-A3C1-AFDA1E1B7433}" type="datetimeFigureOut">
              <a:rPr lang="en-US" smtClean="0"/>
              <a:t>9/29/25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FA8A51-A53E-B24C-82BB-E58ED227501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4320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0B4BFE4-3D07-0147-A3C1-AFDA1E1B7433}" type="datetimeFigureOut">
              <a:rPr lang="en-US" smtClean="0"/>
              <a:t>9/29/25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FA8A51-A53E-B24C-82BB-E58ED227501F}"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34572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0B4BFE4-3D07-0147-A3C1-AFDA1E1B7433}" type="datetimeFigureOut">
              <a:rPr lang="en-US" smtClean="0"/>
              <a:t>9/29/25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FA8A51-A53E-B24C-82BB-E58ED227501F}"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5196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B4BFE4-3D07-0147-A3C1-AFDA1E1B7433}" type="datetimeFigureOut">
              <a:rPr lang="en-US" smtClean="0"/>
              <a:t>9/29/25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FA8A51-A53E-B24C-82BB-E58ED227501F}" type="slidenum">
              <a:rPr lang="en-US" smtClean="0"/>
              <a:t>‹#›</a:t>
            </a:fld>
            <a:endParaRPr lang="en-US"/>
          </a:p>
        </p:txBody>
      </p:sp>
    </p:spTree>
    <p:extLst>
      <p:ext uri="{BB962C8B-B14F-4D97-AF65-F5344CB8AC3E}">
        <p14:creationId xmlns:p14="http://schemas.microsoft.com/office/powerpoint/2010/main" val="1599529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0B4BFE4-3D07-0147-A3C1-AFDA1E1B7433}" type="datetimeFigureOut">
              <a:rPr lang="en-US" smtClean="0"/>
              <a:t>9/29/25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FA8A51-A53E-B24C-82BB-E58ED227501F}"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396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0B4BFE4-3D07-0147-A3C1-AFDA1E1B7433}" type="datetimeFigureOut">
              <a:rPr lang="en-US" smtClean="0"/>
              <a:t>9/29/25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3FA8A51-A53E-B24C-82BB-E58ED227501F}"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1464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B4BFE4-3D07-0147-A3C1-AFDA1E1B7433}" type="datetimeFigureOut">
              <a:rPr lang="en-US" smtClean="0"/>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A8A51-A53E-B24C-82BB-E58ED227501F}"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2645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B4BFE4-3D07-0147-A3C1-AFDA1E1B7433}" type="datetimeFigureOut">
              <a:rPr lang="en-US" smtClean="0"/>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A8A51-A53E-B24C-82BB-E58ED227501F}"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7191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0B4BFE4-3D07-0147-A3C1-AFDA1E1B7433}" type="datetimeFigureOut">
              <a:rPr lang="en-US" smtClean="0"/>
              <a:t>9/29/25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3FA8A51-A53E-B24C-82BB-E58ED227501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036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0D6AF-E160-F7B1-9602-752B82B73323}"/>
              </a:ext>
            </a:extLst>
          </p:cNvPr>
          <p:cNvSpPr>
            <a:spLocks noGrp="1"/>
          </p:cNvSpPr>
          <p:nvPr>
            <p:ph type="ctrTitle"/>
          </p:nvPr>
        </p:nvSpPr>
        <p:spPr/>
        <p:txBody>
          <a:bodyPr/>
          <a:lstStyle/>
          <a:p>
            <a:r>
              <a:rPr lang="en-US" dirty="0"/>
              <a:t>James Lim</a:t>
            </a:r>
          </a:p>
        </p:txBody>
      </p:sp>
      <p:sp>
        <p:nvSpPr>
          <p:cNvPr id="3" name="Subtitle 2">
            <a:extLst>
              <a:ext uri="{FF2B5EF4-FFF2-40B4-BE49-F238E27FC236}">
                <a16:creationId xmlns:a16="http://schemas.microsoft.com/office/drawing/2014/main" id="{B07DF067-D146-4D5C-4DFD-9D65DECE73D7}"/>
              </a:ext>
            </a:extLst>
          </p:cNvPr>
          <p:cNvSpPr>
            <a:spLocks noGrp="1"/>
          </p:cNvSpPr>
          <p:nvPr>
            <p:ph type="subTitle" idx="1"/>
          </p:nvPr>
        </p:nvSpPr>
        <p:spPr/>
        <p:txBody>
          <a:bodyPr/>
          <a:lstStyle/>
          <a:p>
            <a:r>
              <a:rPr lang="en-US" dirty="0"/>
              <a:t>Job Application: Big Data analysis Engineer</a:t>
            </a:r>
          </a:p>
          <a:p>
            <a:r>
              <a:rPr lang="en-US" dirty="0"/>
              <a:t>15 SEP 2025</a:t>
            </a:r>
          </a:p>
        </p:txBody>
      </p:sp>
    </p:spTree>
    <p:extLst>
      <p:ext uri="{BB962C8B-B14F-4D97-AF65-F5344CB8AC3E}">
        <p14:creationId xmlns:p14="http://schemas.microsoft.com/office/powerpoint/2010/main" val="97788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18DC-C9C8-A859-B96A-97D382DA92B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45F4AA8-0BE5-3C98-C374-07256E8880F7}"/>
              </a:ext>
            </a:extLst>
          </p:cNvPr>
          <p:cNvSpPr>
            <a:spLocks noGrp="1"/>
          </p:cNvSpPr>
          <p:nvPr>
            <p:ph idx="1"/>
          </p:nvPr>
        </p:nvSpPr>
        <p:spPr/>
        <p:txBody>
          <a:bodyPr/>
          <a:lstStyle/>
          <a:p>
            <a:r>
              <a:rPr lang="en-US" dirty="0"/>
              <a:t>Personal Background</a:t>
            </a:r>
          </a:p>
          <a:p>
            <a:r>
              <a:rPr lang="en-US" dirty="0"/>
              <a:t>Project Achievement: Time-Series Predictive Maintenance</a:t>
            </a:r>
          </a:p>
          <a:p>
            <a:r>
              <a:rPr lang="en-US" dirty="0"/>
              <a:t>Research Work: “</a:t>
            </a:r>
            <a:r>
              <a:rPr lang="en-US" dirty="0" err="1">
                <a:solidFill>
                  <a:srgbClr val="0070C0"/>
                </a:solidFill>
              </a:rPr>
              <a:t>SubLIME</a:t>
            </a:r>
            <a:r>
              <a:rPr lang="en-US" dirty="0">
                <a:solidFill>
                  <a:srgbClr val="0070C0"/>
                </a:solidFill>
              </a:rPr>
              <a:t>: Less is More for LLM Evaluation</a:t>
            </a:r>
            <a:r>
              <a:rPr lang="en-US" dirty="0"/>
              <a:t>”</a:t>
            </a:r>
          </a:p>
        </p:txBody>
      </p:sp>
    </p:spTree>
    <p:extLst>
      <p:ext uri="{BB962C8B-B14F-4D97-AF65-F5344CB8AC3E}">
        <p14:creationId xmlns:p14="http://schemas.microsoft.com/office/powerpoint/2010/main" val="54715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1537-511B-8A50-EF02-6A8290811724}"/>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84949A2D-C4F5-66F7-B234-4B1E729E04FA}"/>
              </a:ext>
            </a:extLst>
          </p:cNvPr>
          <p:cNvSpPr>
            <a:spLocks noGrp="1"/>
          </p:cNvSpPr>
          <p:nvPr>
            <p:ph idx="1"/>
          </p:nvPr>
        </p:nvSpPr>
        <p:spPr>
          <a:xfrm>
            <a:off x="1451579" y="2015733"/>
            <a:ext cx="3201101" cy="1292244"/>
          </a:xfrm>
        </p:spPr>
        <p:txBody>
          <a:bodyPr>
            <a:normAutofit fontScale="92500" lnSpcReduction="10000"/>
          </a:bodyPr>
          <a:lstStyle/>
          <a:p>
            <a:r>
              <a:rPr lang="en-US" sz="1400" u="sng" dirty="0"/>
              <a:t>Personal Background</a:t>
            </a:r>
            <a:r>
              <a:rPr lang="en-US" sz="1400" dirty="0"/>
              <a:t>:</a:t>
            </a:r>
          </a:p>
          <a:p>
            <a:pPr lvl="1"/>
            <a:r>
              <a:rPr lang="en-US" sz="1200" dirty="0"/>
              <a:t>Name: James Lim</a:t>
            </a:r>
          </a:p>
          <a:p>
            <a:pPr lvl="1"/>
            <a:r>
              <a:rPr lang="en-US" sz="1200" dirty="0"/>
              <a:t>Country of Origin: Indonesia</a:t>
            </a:r>
          </a:p>
          <a:p>
            <a:pPr lvl="1"/>
            <a:r>
              <a:rPr lang="en-US" sz="1200" dirty="0"/>
              <a:t>Obtained Singapore PR in 2025</a:t>
            </a:r>
          </a:p>
          <a:p>
            <a:pPr lvl="1"/>
            <a:r>
              <a:rPr lang="en-US" sz="1200" dirty="0"/>
              <a:t>Hobby: Stargazing</a:t>
            </a:r>
          </a:p>
        </p:txBody>
      </p:sp>
      <p:sp>
        <p:nvSpPr>
          <p:cNvPr id="6" name="Content Placeholder 2">
            <a:extLst>
              <a:ext uri="{FF2B5EF4-FFF2-40B4-BE49-F238E27FC236}">
                <a16:creationId xmlns:a16="http://schemas.microsoft.com/office/drawing/2014/main" id="{539DF4E2-9D72-0A7E-9095-02F996886274}"/>
              </a:ext>
            </a:extLst>
          </p:cNvPr>
          <p:cNvSpPr txBox="1">
            <a:spLocks/>
          </p:cNvSpPr>
          <p:nvPr/>
        </p:nvSpPr>
        <p:spPr>
          <a:xfrm>
            <a:off x="1451579" y="3376539"/>
            <a:ext cx="3201103" cy="98030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400" u="sng" dirty="0"/>
              <a:t>Educational Journey</a:t>
            </a:r>
            <a:r>
              <a:rPr lang="en-US" sz="1400" dirty="0"/>
              <a:t>:</a:t>
            </a:r>
          </a:p>
          <a:p>
            <a:pPr lvl="1"/>
            <a:r>
              <a:rPr lang="en-US" sz="1200" dirty="0"/>
              <a:t>2013-2017: NTU (BEng. EEE, 1</a:t>
            </a:r>
            <a:r>
              <a:rPr lang="en-US" sz="1200" baseline="30000" dirty="0"/>
              <a:t>st</a:t>
            </a:r>
            <a:r>
              <a:rPr lang="en-US" sz="1200" dirty="0"/>
              <a:t> class)</a:t>
            </a:r>
          </a:p>
          <a:p>
            <a:pPr lvl="1"/>
            <a:r>
              <a:rPr lang="en-US" sz="1200" dirty="0"/>
              <a:t>2022-2024: NUS (MSc. DSML)</a:t>
            </a:r>
          </a:p>
        </p:txBody>
      </p:sp>
      <p:sp>
        <p:nvSpPr>
          <p:cNvPr id="7" name="Content Placeholder 2">
            <a:extLst>
              <a:ext uri="{FF2B5EF4-FFF2-40B4-BE49-F238E27FC236}">
                <a16:creationId xmlns:a16="http://schemas.microsoft.com/office/drawing/2014/main" id="{366A3E37-3B03-CD14-F4A3-66455E8C430B}"/>
              </a:ext>
            </a:extLst>
          </p:cNvPr>
          <p:cNvSpPr txBox="1">
            <a:spLocks/>
          </p:cNvSpPr>
          <p:nvPr/>
        </p:nvSpPr>
        <p:spPr>
          <a:xfrm>
            <a:off x="4652680" y="2015733"/>
            <a:ext cx="6548720" cy="298851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400" u="sng" dirty="0"/>
              <a:t>Professional Experience</a:t>
            </a:r>
            <a:r>
              <a:rPr lang="en-US" sz="1400" dirty="0"/>
              <a:t>:</a:t>
            </a:r>
          </a:p>
          <a:p>
            <a:pPr lvl="1"/>
            <a:r>
              <a:rPr lang="en-US" sz="1200" dirty="0"/>
              <a:t>2017 Jul – 2023 Jan: Micron Technology (Lead Data Scientist &amp; Algorithm Engineer)</a:t>
            </a:r>
          </a:p>
          <a:p>
            <a:pPr lvl="1"/>
            <a:r>
              <a:rPr lang="en-US" sz="1200" dirty="0"/>
              <a:t>2023 Aug – 2024 Jan: Robert Bosch (AI Research Intern, GenAI –Predictive Maintenance)</a:t>
            </a:r>
          </a:p>
          <a:p>
            <a:pPr lvl="2"/>
            <a:r>
              <a:rPr lang="en-US" sz="1200" dirty="0">
                <a:solidFill>
                  <a:srgbClr val="002060"/>
                </a:solidFill>
              </a:rPr>
              <a:t>Detailed project covered in Slide 4</a:t>
            </a:r>
          </a:p>
          <a:p>
            <a:pPr lvl="1"/>
            <a:r>
              <a:rPr lang="en-US" sz="1200" dirty="0"/>
              <a:t>2024 Jan – 2024 Jul: Hewlett Packard Enterprise (AI </a:t>
            </a:r>
            <a:r>
              <a:rPr lang="en-US" sz="1200" dirty="0" err="1"/>
              <a:t>Researh</a:t>
            </a:r>
            <a:r>
              <a:rPr lang="en-US" sz="1200" dirty="0"/>
              <a:t> Intern, NLP)</a:t>
            </a:r>
          </a:p>
          <a:p>
            <a:pPr lvl="2"/>
            <a:r>
              <a:rPr lang="en-US" sz="1200" dirty="0">
                <a:solidFill>
                  <a:srgbClr val="002060"/>
                </a:solidFill>
              </a:rPr>
              <a:t>Detailed project covered in Slide 8</a:t>
            </a:r>
          </a:p>
          <a:p>
            <a:pPr lvl="1"/>
            <a:r>
              <a:rPr lang="en-US" sz="1200" dirty="0"/>
              <a:t>2024 Oct – Present: Amgen (Specialist Data Scientist)</a:t>
            </a:r>
          </a:p>
        </p:txBody>
      </p:sp>
      <p:sp>
        <p:nvSpPr>
          <p:cNvPr id="8" name="Content Placeholder 2">
            <a:extLst>
              <a:ext uri="{FF2B5EF4-FFF2-40B4-BE49-F238E27FC236}">
                <a16:creationId xmlns:a16="http://schemas.microsoft.com/office/drawing/2014/main" id="{A029C4AB-8057-4AEC-91EE-2B30F345F7A5}"/>
              </a:ext>
            </a:extLst>
          </p:cNvPr>
          <p:cNvSpPr txBox="1">
            <a:spLocks/>
          </p:cNvSpPr>
          <p:nvPr/>
        </p:nvSpPr>
        <p:spPr>
          <a:xfrm>
            <a:off x="1451577" y="4746810"/>
            <a:ext cx="3201103" cy="129224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400" u="sng" dirty="0"/>
              <a:t>Key Skills &amp; Expertise</a:t>
            </a:r>
            <a:r>
              <a:rPr lang="en-US" sz="1400" dirty="0"/>
              <a:t>:</a:t>
            </a:r>
          </a:p>
          <a:p>
            <a:pPr lvl="1"/>
            <a:r>
              <a:rPr lang="en-US" sz="1200" dirty="0"/>
              <a:t>Data Science, Data Eng., Data Viz.</a:t>
            </a:r>
          </a:p>
          <a:p>
            <a:pPr lvl="1"/>
            <a:r>
              <a:rPr lang="en-US" sz="1200" dirty="0"/>
              <a:t>Big Data, AI/ML, DevOps, </a:t>
            </a:r>
            <a:r>
              <a:rPr lang="en-US" sz="1200" dirty="0" err="1"/>
              <a:t>MLOps</a:t>
            </a:r>
            <a:endParaRPr lang="en-US" sz="1200" dirty="0"/>
          </a:p>
          <a:p>
            <a:pPr lvl="1"/>
            <a:r>
              <a:rPr lang="en-US" sz="1200" dirty="0"/>
              <a:t>Agile Project Management</a:t>
            </a:r>
          </a:p>
        </p:txBody>
      </p:sp>
      <p:cxnSp>
        <p:nvCxnSpPr>
          <p:cNvPr id="11" name="Straight Connector 10">
            <a:extLst>
              <a:ext uri="{FF2B5EF4-FFF2-40B4-BE49-F238E27FC236}">
                <a16:creationId xmlns:a16="http://schemas.microsoft.com/office/drawing/2014/main" id="{95A4FAEE-E17E-6AB2-E0EA-352865F98A60}"/>
              </a:ext>
            </a:extLst>
          </p:cNvPr>
          <p:cNvCxnSpPr>
            <a:cxnSpLocks/>
          </p:cNvCxnSpPr>
          <p:nvPr/>
        </p:nvCxnSpPr>
        <p:spPr>
          <a:xfrm>
            <a:off x="1156447" y="4518212"/>
            <a:ext cx="10542494"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34129E34-DCED-2F0E-3044-B1FFEB5BAB77}"/>
              </a:ext>
            </a:extLst>
          </p:cNvPr>
          <p:cNvSpPr txBox="1">
            <a:spLocks/>
          </p:cNvSpPr>
          <p:nvPr/>
        </p:nvSpPr>
        <p:spPr>
          <a:xfrm>
            <a:off x="4652680" y="4746810"/>
            <a:ext cx="3496233" cy="129224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400" u="sng" dirty="0"/>
              <a:t>Future Career Goals</a:t>
            </a:r>
            <a:r>
              <a:rPr lang="en-US" sz="1400" dirty="0"/>
              <a:t>:</a:t>
            </a:r>
          </a:p>
          <a:p>
            <a:pPr lvl="1"/>
            <a:r>
              <a:rPr lang="en-US" sz="1200" dirty="0"/>
              <a:t>Big Data Engineer</a:t>
            </a:r>
          </a:p>
          <a:p>
            <a:pPr lvl="1"/>
            <a:r>
              <a:rPr lang="en-US" sz="1200" dirty="0"/>
              <a:t>Data Scientist</a:t>
            </a:r>
          </a:p>
          <a:p>
            <a:pPr lvl="1"/>
            <a:r>
              <a:rPr lang="en-US" sz="1200" dirty="0"/>
              <a:t>AI/ML Engineer</a:t>
            </a:r>
          </a:p>
        </p:txBody>
      </p:sp>
    </p:spTree>
    <p:extLst>
      <p:ext uri="{BB962C8B-B14F-4D97-AF65-F5344CB8AC3E}">
        <p14:creationId xmlns:p14="http://schemas.microsoft.com/office/powerpoint/2010/main" val="1607240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8744-8702-B58F-1DE5-66DFE2F86927}"/>
              </a:ext>
            </a:extLst>
          </p:cNvPr>
          <p:cNvSpPr>
            <a:spLocks noGrp="1"/>
          </p:cNvSpPr>
          <p:nvPr>
            <p:ph type="title"/>
          </p:nvPr>
        </p:nvSpPr>
        <p:spPr/>
        <p:txBody>
          <a:bodyPr/>
          <a:lstStyle/>
          <a:p>
            <a:r>
              <a:rPr lang="en-US" dirty="0" err="1"/>
              <a:t>GenAI</a:t>
            </a:r>
            <a:r>
              <a:rPr lang="en-US" dirty="0"/>
              <a:t> Project Achievement</a:t>
            </a:r>
          </a:p>
        </p:txBody>
      </p:sp>
      <p:sp>
        <p:nvSpPr>
          <p:cNvPr id="3" name="Content Placeholder 2">
            <a:extLst>
              <a:ext uri="{FF2B5EF4-FFF2-40B4-BE49-F238E27FC236}">
                <a16:creationId xmlns:a16="http://schemas.microsoft.com/office/drawing/2014/main" id="{6C0A4B23-4095-0C0F-3B64-728D378F5AFC}"/>
              </a:ext>
            </a:extLst>
          </p:cNvPr>
          <p:cNvSpPr>
            <a:spLocks noGrp="1"/>
          </p:cNvSpPr>
          <p:nvPr>
            <p:ph idx="1"/>
          </p:nvPr>
        </p:nvSpPr>
        <p:spPr>
          <a:xfrm>
            <a:off x="1451579" y="1910223"/>
            <a:ext cx="9603275" cy="4314730"/>
          </a:xfrm>
        </p:spPr>
        <p:txBody>
          <a:bodyPr>
            <a:normAutofit/>
          </a:bodyPr>
          <a:lstStyle/>
          <a:p>
            <a:r>
              <a:rPr lang="en-US" dirty="0"/>
              <a:t>Experience: Robert Bosch (AI Research Intern)</a:t>
            </a:r>
          </a:p>
          <a:p>
            <a:r>
              <a:rPr lang="en-US" dirty="0"/>
              <a:t>Title: DGAN-based Predictive Maintenance on Time-Series Machine Sensory Data</a:t>
            </a:r>
          </a:p>
          <a:p>
            <a:r>
              <a:rPr lang="en-US" dirty="0"/>
              <a:t>Background:</a:t>
            </a:r>
          </a:p>
          <a:p>
            <a:pPr lvl="1"/>
            <a:r>
              <a:rPr lang="en-US" dirty="0"/>
              <a:t>Bosch plant in Singapore imported same CNC machines that are used in Bosch plant in China.</a:t>
            </a:r>
          </a:p>
          <a:p>
            <a:pPr lvl="1"/>
            <a:r>
              <a:rPr lang="en-US" dirty="0"/>
              <a:t>Many False Positive on maintenance with fixed schedule =&gt; Costly + Reactive Effort</a:t>
            </a:r>
          </a:p>
          <a:p>
            <a:pPr lvl="1"/>
            <a:r>
              <a:rPr lang="en-US" dirty="0"/>
              <a:t>Legal regulation on massive cross-border data transfer from Bosch plant in China</a:t>
            </a:r>
          </a:p>
          <a:p>
            <a:r>
              <a:rPr lang="en-US" dirty="0"/>
              <a:t> Objective: </a:t>
            </a:r>
          </a:p>
          <a:p>
            <a:pPr lvl="1"/>
            <a:r>
              <a:rPr lang="en-US" dirty="0"/>
              <a:t>To learn latent failure characteristic on minimal machine failure data from Bosch plant in China and generate synthetic time-series data.</a:t>
            </a:r>
          </a:p>
          <a:p>
            <a:pPr lvl="1"/>
            <a:r>
              <a:rPr lang="en-US" dirty="0"/>
              <a:t>To implement predictive maintenance before actual machine breakdown.</a:t>
            </a:r>
          </a:p>
        </p:txBody>
      </p:sp>
      <p:sp>
        <p:nvSpPr>
          <p:cNvPr id="4" name="TextBox 3">
            <a:extLst>
              <a:ext uri="{FF2B5EF4-FFF2-40B4-BE49-F238E27FC236}">
                <a16:creationId xmlns:a16="http://schemas.microsoft.com/office/drawing/2014/main" id="{BAD03866-F2CF-0B9E-61DB-00480D7F3E07}"/>
              </a:ext>
            </a:extLst>
          </p:cNvPr>
          <p:cNvSpPr txBox="1"/>
          <p:nvPr/>
        </p:nvSpPr>
        <p:spPr>
          <a:xfrm>
            <a:off x="1451579" y="1390293"/>
            <a:ext cx="2014975" cy="369332"/>
          </a:xfrm>
          <a:prstGeom prst="rect">
            <a:avLst/>
          </a:prstGeom>
          <a:noFill/>
        </p:spPr>
        <p:txBody>
          <a:bodyPr wrap="none" rtlCol="0">
            <a:spAutoFit/>
          </a:bodyPr>
          <a:lstStyle/>
          <a:p>
            <a:r>
              <a:rPr lang="en-US" dirty="0"/>
              <a:t>Project Background</a:t>
            </a:r>
          </a:p>
        </p:txBody>
      </p:sp>
    </p:spTree>
    <p:extLst>
      <p:ext uri="{BB962C8B-B14F-4D97-AF65-F5344CB8AC3E}">
        <p14:creationId xmlns:p14="http://schemas.microsoft.com/office/powerpoint/2010/main" val="3666248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8744-8702-B58F-1DE5-66DFE2F86927}"/>
              </a:ext>
            </a:extLst>
          </p:cNvPr>
          <p:cNvSpPr>
            <a:spLocks noGrp="1"/>
          </p:cNvSpPr>
          <p:nvPr>
            <p:ph type="title"/>
          </p:nvPr>
        </p:nvSpPr>
        <p:spPr/>
        <p:txBody>
          <a:bodyPr/>
          <a:lstStyle/>
          <a:p>
            <a:r>
              <a:rPr lang="en-US" dirty="0"/>
              <a:t>GENAI Project Achievement</a:t>
            </a:r>
          </a:p>
        </p:txBody>
      </p:sp>
      <p:sp>
        <p:nvSpPr>
          <p:cNvPr id="3" name="Content Placeholder 2">
            <a:extLst>
              <a:ext uri="{FF2B5EF4-FFF2-40B4-BE49-F238E27FC236}">
                <a16:creationId xmlns:a16="http://schemas.microsoft.com/office/drawing/2014/main" id="{6C0A4B23-4095-0C0F-3B64-728D378F5AFC}"/>
              </a:ext>
            </a:extLst>
          </p:cNvPr>
          <p:cNvSpPr>
            <a:spLocks noGrp="1"/>
          </p:cNvSpPr>
          <p:nvPr>
            <p:ph idx="1"/>
          </p:nvPr>
        </p:nvSpPr>
        <p:spPr>
          <a:xfrm>
            <a:off x="1451579" y="2015732"/>
            <a:ext cx="9603275" cy="4037749"/>
          </a:xfrm>
        </p:spPr>
        <p:txBody>
          <a:bodyPr>
            <a:normAutofit fontScale="70000" lnSpcReduction="20000"/>
          </a:bodyPr>
          <a:lstStyle/>
          <a:p>
            <a:r>
              <a:rPr lang="en-US" dirty="0"/>
              <a:t>Data Preparation:</a:t>
            </a:r>
          </a:p>
          <a:p>
            <a:pPr lvl="1"/>
            <a:r>
              <a:rPr lang="en-US" dirty="0"/>
              <a:t>Data Cleaning &amp; Normalization: Aggregated and standardized data from various sources.</a:t>
            </a:r>
          </a:p>
          <a:p>
            <a:pPr lvl="1"/>
            <a:r>
              <a:rPr lang="en-US" dirty="0"/>
              <a:t>Data imputation: Ensured consistent sequence lengths using replication.</a:t>
            </a:r>
          </a:p>
          <a:p>
            <a:r>
              <a:rPr lang="en-US" dirty="0"/>
              <a:t>Model Configuration:</a:t>
            </a:r>
          </a:p>
          <a:p>
            <a:pPr lvl="1"/>
            <a:r>
              <a:rPr lang="en-US" dirty="0"/>
              <a:t>Parameter Settings: Configured key parameters like sample length, batch size, epochs, and network layers for both discriminator and generator.</a:t>
            </a:r>
          </a:p>
          <a:p>
            <a:pPr lvl="1"/>
            <a:r>
              <a:rPr lang="en-US" dirty="0"/>
              <a:t>Feature Scaling: Applied feature scaling and normalization.</a:t>
            </a:r>
          </a:p>
          <a:p>
            <a:r>
              <a:rPr lang="en-US" dirty="0"/>
              <a:t>Training the </a:t>
            </a:r>
            <a:r>
              <a:rPr lang="en-US" dirty="0" err="1"/>
              <a:t>DoppelGANger</a:t>
            </a:r>
            <a:r>
              <a:rPr lang="en-US" dirty="0"/>
              <a:t> Model:</a:t>
            </a:r>
          </a:p>
          <a:p>
            <a:pPr lvl="1"/>
            <a:r>
              <a:rPr lang="en-US" dirty="0"/>
              <a:t>Training Process: Utilized GPU for efficient model training</a:t>
            </a:r>
          </a:p>
          <a:p>
            <a:pPr lvl="1"/>
            <a:r>
              <a:rPr lang="en-US" dirty="0"/>
              <a:t>Loss Functions: Implemented KL divergence and spectral loss for improved accuracy.</a:t>
            </a:r>
          </a:p>
          <a:p>
            <a:pPr lvl="1"/>
            <a:r>
              <a:rPr lang="en-US" dirty="0"/>
              <a:t>Optimization Techniques: Used Adam optimizer and sinusoidal-decaying learning rates for stable training.</a:t>
            </a:r>
          </a:p>
          <a:p>
            <a:r>
              <a:rPr lang="en-US" dirty="0"/>
              <a:t>Generating Synthetic Data:</a:t>
            </a:r>
          </a:p>
          <a:p>
            <a:pPr lvl="1"/>
            <a:r>
              <a:rPr lang="en-US" dirty="0"/>
              <a:t>Data Generation: Created synthetic data matching the statistical properties of real data.</a:t>
            </a:r>
          </a:p>
          <a:p>
            <a:pPr lvl="1"/>
            <a:r>
              <a:rPr lang="en-US" dirty="0"/>
              <a:t>Evaluation Metrics: Assessed quality using various statistical metrics and visual comparisons</a:t>
            </a:r>
          </a:p>
          <a:p>
            <a:pPr lvl="1"/>
            <a:endParaRPr lang="en-US" dirty="0"/>
          </a:p>
        </p:txBody>
      </p:sp>
      <p:sp>
        <p:nvSpPr>
          <p:cNvPr id="4" name="TextBox 3">
            <a:extLst>
              <a:ext uri="{FF2B5EF4-FFF2-40B4-BE49-F238E27FC236}">
                <a16:creationId xmlns:a16="http://schemas.microsoft.com/office/drawing/2014/main" id="{BAD03866-F2CF-0B9E-61DB-00480D7F3E07}"/>
              </a:ext>
            </a:extLst>
          </p:cNvPr>
          <p:cNvSpPr txBox="1"/>
          <p:nvPr/>
        </p:nvSpPr>
        <p:spPr>
          <a:xfrm>
            <a:off x="1451579" y="1390293"/>
            <a:ext cx="4720588" cy="369332"/>
          </a:xfrm>
          <a:prstGeom prst="rect">
            <a:avLst/>
          </a:prstGeom>
          <a:noFill/>
        </p:spPr>
        <p:txBody>
          <a:bodyPr wrap="none" rtlCol="0">
            <a:spAutoFit/>
          </a:bodyPr>
          <a:lstStyle/>
          <a:p>
            <a:r>
              <a:rPr lang="en-US" dirty="0"/>
              <a:t>Overview of Data Processing and Model Training</a:t>
            </a:r>
          </a:p>
        </p:txBody>
      </p:sp>
    </p:spTree>
    <p:extLst>
      <p:ext uri="{BB962C8B-B14F-4D97-AF65-F5344CB8AC3E}">
        <p14:creationId xmlns:p14="http://schemas.microsoft.com/office/powerpoint/2010/main" val="1112403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8744-8702-B58F-1DE5-66DFE2F86927}"/>
              </a:ext>
            </a:extLst>
          </p:cNvPr>
          <p:cNvSpPr>
            <a:spLocks noGrp="1"/>
          </p:cNvSpPr>
          <p:nvPr>
            <p:ph type="title"/>
          </p:nvPr>
        </p:nvSpPr>
        <p:spPr/>
        <p:txBody>
          <a:bodyPr/>
          <a:lstStyle/>
          <a:p>
            <a:r>
              <a:rPr lang="en-US" dirty="0"/>
              <a:t>GENAI Project Achievement</a:t>
            </a:r>
          </a:p>
        </p:txBody>
      </p:sp>
      <p:sp>
        <p:nvSpPr>
          <p:cNvPr id="3" name="Content Placeholder 2">
            <a:extLst>
              <a:ext uri="{FF2B5EF4-FFF2-40B4-BE49-F238E27FC236}">
                <a16:creationId xmlns:a16="http://schemas.microsoft.com/office/drawing/2014/main" id="{6C0A4B23-4095-0C0F-3B64-728D378F5AFC}"/>
              </a:ext>
            </a:extLst>
          </p:cNvPr>
          <p:cNvSpPr>
            <a:spLocks noGrp="1"/>
          </p:cNvSpPr>
          <p:nvPr>
            <p:ph idx="1"/>
          </p:nvPr>
        </p:nvSpPr>
        <p:spPr>
          <a:xfrm>
            <a:off x="1451579" y="2015732"/>
            <a:ext cx="9603275" cy="4037749"/>
          </a:xfrm>
        </p:spPr>
        <p:txBody>
          <a:bodyPr>
            <a:normAutofit fontScale="77500" lnSpcReduction="20000"/>
          </a:bodyPr>
          <a:lstStyle/>
          <a:p>
            <a:r>
              <a:rPr lang="en-US" dirty="0"/>
              <a:t>Model Structure:</a:t>
            </a:r>
          </a:p>
          <a:p>
            <a:pPr lvl="1"/>
            <a:r>
              <a:rPr lang="en-US" dirty="0"/>
              <a:t>GAN Framework: Comprised of a generator and discriminator network.</a:t>
            </a:r>
          </a:p>
          <a:p>
            <a:pPr lvl="1"/>
            <a:r>
              <a:rPr lang="en-US" dirty="0"/>
              <a:t>Custom Loss Functions: Incorporate KL divergence and spectral loss.</a:t>
            </a:r>
          </a:p>
          <a:p>
            <a:r>
              <a:rPr lang="en-US" dirty="0"/>
              <a:t>Training Procedure:</a:t>
            </a:r>
          </a:p>
          <a:p>
            <a:pPr lvl="1"/>
            <a:r>
              <a:rPr lang="en-US" dirty="0"/>
              <a:t>Data Loading; Prepared data in batches and used </a:t>
            </a:r>
            <a:r>
              <a:rPr lang="en-US" dirty="0" err="1"/>
              <a:t>DataLoader</a:t>
            </a:r>
            <a:r>
              <a:rPr lang="en-US" dirty="0"/>
              <a:t> for efficient processing.</a:t>
            </a:r>
          </a:p>
          <a:p>
            <a:pPr lvl="1"/>
            <a:r>
              <a:rPr lang="en-US" dirty="0"/>
              <a:t>Gradient Penalty: Applied gradient penalty to enhance discriminator performance.</a:t>
            </a:r>
          </a:p>
          <a:p>
            <a:pPr lvl="1"/>
            <a:r>
              <a:rPr lang="en-US" dirty="0"/>
              <a:t>Loss Calculation: Computer and logged generator and discriminator losses using </a:t>
            </a:r>
            <a:r>
              <a:rPr lang="en-US" dirty="0" err="1"/>
              <a:t>TensorBoard</a:t>
            </a:r>
            <a:endParaRPr lang="en-US" dirty="0"/>
          </a:p>
          <a:p>
            <a:r>
              <a:rPr lang="en-US" dirty="0"/>
              <a:t>Checkpointing and Best Model Saving:</a:t>
            </a:r>
          </a:p>
          <a:p>
            <a:pPr lvl="1"/>
            <a:r>
              <a:rPr lang="en-US" dirty="0"/>
              <a:t>Checkpointing: Saved model states at regular intervals.</a:t>
            </a:r>
          </a:p>
          <a:p>
            <a:pPr lvl="1"/>
            <a:r>
              <a:rPr lang="en-US" dirty="0"/>
              <a:t>Best Model: Identified and saved the best model on lose metrics.</a:t>
            </a:r>
          </a:p>
          <a:p>
            <a:r>
              <a:rPr lang="en-US" dirty="0"/>
              <a:t>Synthetic Data Generation:</a:t>
            </a:r>
          </a:p>
          <a:p>
            <a:pPr lvl="1"/>
            <a:r>
              <a:rPr lang="en-US" dirty="0"/>
              <a:t>Noise Functions: Generated synthetic data using noise vectors for attributes and features.</a:t>
            </a:r>
          </a:p>
          <a:p>
            <a:pPr lvl="1"/>
            <a:r>
              <a:rPr lang="en-US" dirty="0"/>
              <a:t>Evaluation Metrics: Converted internal representations back to the original data format.</a:t>
            </a:r>
          </a:p>
          <a:p>
            <a:pPr lvl="1"/>
            <a:endParaRPr lang="en-US" dirty="0"/>
          </a:p>
        </p:txBody>
      </p:sp>
      <p:sp>
        <p:nvSpPr>
          <p:cNvPr id="4" name="TextBox 3">
            <a:extLst>
              <a:ext uri="{FF2B5EF4-FFF2-40B4-BE49-F238E27FC236}">
                <a16:creationId xmlns:a16="http://schemas.microsoft.com/office/drawing/2014/main" id="{BAD03866-F2CF-0B9E-61DB-00480D7F3E07}"/>
              </a:ext>
            </a:extLst>
          </p:cNvPr>
          <p:cNvSpPr txBox="1"/>
          <p:nvPr/>
        </p:nvSpPr>
        <p:spPr>
          <a:xfrm>
            <a:off x="1451579" y="1390293"/>
            <a:ext cx="4373313" cy="369332"/>
          </a:xfrm>
          <a:prstGeom prst="rect">
            <a:avLst/>
          </a:prstGeom>
          <a:noFill/>
        </p:spPr>
        <p:txBody>
          <a:bodyPr wrap="none" rtlCol="0">
            <a:spAutoFit/>
          </a:bodyPr>
          <a:lstStyle/>
          <a:p>
            <a:r>
              <a:rPr lang="en-US" dirty="0"/>
              <a:t>Detailed Implementation of </a:t>
            </a:r>
            <a:r>
              <a:rPr lang="en-US" dirty="0" err="1"/>
              <a:t>DoppelGANger</a:t>
            </a:r>
            <a:r>
              <a:rPr lang="en-US" dirty="0"/>
              <a:t> </a:t>
            </a:r>
          </a:p>
        </p:txBody>
      </p:sp>
    </p:spTree>
    <p:extLst>
      <p:ext uri="{BB962C8B-B14F-4D97-AF65-F5344CB8AC3E}">
        <p14:creationId xmlns:p14="http://schemas.microsoft.com/office/powerpoint/2010/main" val="2406975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8744-8702-B58F-1DE5-66DFE2F86927}"/>
              </a:ext>
            </a:extLst>
          </p:cNvPr>
          <p:cNvSpPr>
            <a:spLocks noGrp="1"/>
          </p:cNvSpPr>
          <p:nvPr>
            <p:ph type="title"/>
          </p:nvPr>
        </p:nvSpPr>
        <p:spPr/>
        <p:txBody>
          <a:bodyPr/>
          <a:lstStyle/>
          <a:p>
            <a:r>
              <a:rPr lang="en-US" dirty="0"/>
              <a:t>GENAI Project Achievement</a:t>
            </a:r>
          </a:p>
        </p:txBody>
      </p:sp>
      <p:sp>
        <p:nvSpPr>
          <p:cNvPr id="4" name="TextBox 3">
            <a:extLst>
              <a:ext uri="{FF2B5EF4-FFF2-40B4-BE49-F238E27FC236}">
                <a16:creationId xmlns:a16="http://schemas.microsoft.com/office/drawing/2014/main" id="{BAD03866-F2CF-0B9E-61DB-00480D7F3E07}"/>
              </a:ext>
            </a:extLst>
          </p:cNvPr>
          <p:cNvSpPr txBox="1"/>
          <p:nvPr/>
        </p:nvSpPr>
        <p:spPr>
          <a:xfrm>
            <a:off x="1451579" y="1390293"/>
            <a:ext cx="1614545" cy="369332"/>
          </a:xfrm>
          <a:prstGeom prst="rect">
            <a:avLst/>
          </a:prstGeom>
          <a:noFill/>
        </p:spPr>
        <p:txBody>
          <a:bodyPr wrap="none" rtlCol="0">
            <a:spAutoFit/>
          </a:bodyPr>
          <a:lstStyle/>
          <a:p>
            <a:r>
              <a:rPr lang="en-US" dirty="0"/>
              <a:t>Result Example</a:t>
            </a:r>
          </a:p>
        </p:txBody>
      </p:sp>
      <p:pic>
        <p:nvPicPr>
          <p:cNvPr id="5" name="Picture 4">
            <a:extLst>
              <a:ext uri="{FF2B5EF4-FFF2-40B4-BE49-F238E27FC236}">
                <a16:creationId xmlns:a16="http://schemas.microsoft.com/office/drawing/2014/main" id="{B2B75D54-D120-AE78-E24A-D227BD2E8077}"/>
              </a:ext>
            </a:extLst>
          </p:cNvPr>
          <p:cNvPicPr>
            <a:picLocks noChangeAspect="1"/>
          </p:cNvPicPr>
          <p:nvPr/>
        </p:nvPicPr>
        <p:blipFill rotWithShape="1">
          <a:blip r:embed="rId3"/>
          <a:srcRect t="3988" r="49760"/>
          <a:stretch/>
        </p:blipFill>
        <p:spPr>
          <a:xfrm>
            <a:off x="1353884" y="2213573"/>
            <a:ext cx="2372210" cy="3513685"/>
          </a:xfrm>
          <a:prstGeom prst="rect">
            <a:avLst/>
          </a:prstGeom>
        </p:spPr>
      </p:pic>
      <p:pic>
        <p:nvPicPr>
          <p:cNvPr id="6" name="Picture 5">
            <a:extLst>
              <a:ext uri="{FF2B5EF4-FFF2-40B4-BE49-F238E27FC236}">
                <a16:creationId xmlns:a16="http://schemas.microsoft.com/office/drawing/2014/main" id="{D77D9D5D-DD92-CC06-0551-8A2903503A0C}"/>
              </a:ext>
            </a:extLst>
          </p:cNvPr>
          <p:cNvPicPr>
            <a:picLocks noChangeAspect="1"/>
          </p:cNvPicPr>
          <p:nvPr/>
        </p:nvPicPr>
        <p:blipFill rotWithShape="1">
          <a:blip r:embed="rId4"/>
          <a:srcRect l="673" t="2598" r="33181"/>
          <a:stretch/>
        </p:blipFill>
        <p:spPr>
          <a:xfrm>
            <a:off x="4004316" y="2186506"/>
            <a:ext cx="4321343" cy="3486620"/>
          </a:xfrm>
          <a:prstGeom prst="rect">
            <a:avLst/>
          </a:prstGeom>
        </p:spPr>
      </p:pic>
      <p:pic>
        <p:nvPicPr>
          <p:cNvPr id="7" name="Picture 6">
            <a:extLst>
              <a:ext uri="{FF2B5EF4-FFF2-40B4-BE49-F238E27FC236}">
                <a16:creationId xmlns:a16="http://schemas.microsoft.com/office/drawing/2014/main" id="{6B56A9D2-F255-D742-5604-2159A7E9ABBC}"/>
              </a:ext>
            </a:extLst>
          </p:cNvPr>
          <p:cNvPicPr>
            <a:picLocks noChangeAspect="1"/>
          </p:cNvPicPr>
          <p:nvPr/>
        </p:nvPicPr>
        <p:blipFill>
          <a:blip r:embed="rId5"/>
          <a:stretch>
            <a:fillRect/>
          </a:stretch>
        </p:blipFill>
        <p:spPr>
          <a:xfrm>
            <a:off x="8553076" y="2213573"/>
            <a:ext cx="1371600" cy="1071177"/>
          </a:xfrm>
          <a:prstGeom prst="rect">
            <a:avLst/>
          </a:prstGeom>
        </p:spPr>
      </p:pic>
      <p:pic>
        <p:nvPicPr>
          <p:cNvPr id="8" name="Picture 7">
            <a:extLst>
              <a:ext uri="{FF2B5EF4-FFF2-40B4-BE49-F238E27FC236}">
                <a16:creationId xmlns:a16="http://schemas.microsoft.com/office/drawing/2014/main" id="{C9B0585A-83FB-1427-C761-EF669BA61F5E}"/>
              </a:ext>
            </a:extLst>
          </p:cNvPr>
          <p:cNvPicPr>
            <a:picLocks noChangeAspect="1"/>
          </p:cNvPicPr>
          <p:nvPr/>
        </p:nvPicPr>
        <p:blipFill>
          <a:blip r:embed="rId6"/>
          <a:stretch>
            <a:fillRect/>
          </a:stretch>
        </p:blipFill>
        <p:spPr>
          <a:xfrm>
            <a:off x="8553076" y="3858495"/>
            <a:ext cx="1371600" cy="1078565"/>
          </a:xfrm>
          <a:prstGeom prst="rect">
            <a:avLst/>
          </a:prstGeom>
        </p:spPr>
      </p:pic>
      <p:pic>
        <p:nvPicPr>
          <p:cNvPr id="9" name="Picture 8">
            <a:extLst>
              <a:ext uri="{FF2B5EF4-FFF2-40B4-BE49-F238E27FC236}">
                <a16:creationId xmlns:a16="http://schemas.microsoft.com/office/drawing/2014/main" id="{3D949923-4E74-1EDB-6AC8-77FF9E2A21CC}"/>
              </a:ext>
            </a:extLst>
          </p:cNvPr>
          <p:cNvPicPr>
            <a:picLocks noChangeAspect="1"/>
          </p:cNvPicPr>
          <p:nvPr/>
        </p:nvPicPr>
        <p:blipFill>
          <a:blip r:embed="rId7"/>
          <a:stretch>
            <a:fillRect/>
          </a:stretch>
        </p:blipFill>
        <p:spPr>
          <a:xfrm>
            <a:off x="8553076" y="5588705"/>
            <a:ext cx="1371600" cy="1089285"/>
          </a:xfrm>
          <a:prstGeom prst="rect">
            <a:avLst/>
          </a:prstGeom>
        </p:spPr>
      </p:pic>
      <p:pic>
        <p:nvPicPr>
          <p:cNvPr id="10" name="Picture 9">
            <a:extLst>
              <a:ext uri="{FF2B5EF4-FFF2-40B4-BE49-F238E27FC236}">
                <a16:creationId xmlns:a16="http://schemas.microsoft.com/office/drawing/2014/main" id="{8DD277DB-0FCA-CAD9-EE91-C7C40EF2A50C}"/>
              </a:ext>
            </a:extLst>
          </p:cNvPr>
          <p:cNvPicPr>
            <a:picLocks noChangeAspect="1"/>
          </p:cNvPicPr>
          <p:nvPr/>
        </p:nvPicPr>
        <p:blipFill>
          <a:blip r:embed="rId8"/>
          <a:stretch>
            <a:fillRect/>
          </a:stretch>
        </p:blipFill>
        <p:spPr>
          <a:xfrm>
            <a:off x="9940298" y="2213573"/>
            <a:ext cx="1371600" cy="1002323"/>
          </a:xfrm>
          <a:prstGeom prst="rect">
            <a:avLst/>
          </a:prstGeom>
        </p:spPr>
      </p:pic>
      <p:pic>
        <p:nvPicPr>
          <p:cNvPr id="11" name="Picture 10">
            <a:extLst>
              <a:ext uri="{FF2B5EF4-FFF2-40B4-BE49-F238E27FC236}">
                <a16:creationId xmlns:a16="http://schemas.microsoft.com/office/drawing/2014/main" id="{2DA7702C-C049-B29B-91CE-633AEE318296}"/>
              </a:ext>
            </a:extLst>
          </p:cNvPr>
          <p:cNvPicPr>
            <a:picLocks noChangeAspect="1"/>
          </p:cNvPicPr>
          <p:nvPr/>
        </p:nvPicPr>
        <p:blipFill>
          <a:blip r:embed="rId9"/>
          <a:stretch>
            <a:fillRect/>
          </a:stretch>
        </p:blipFill>
        <p:spPr>
          <a:xfrm>
            <a:off x="9940298" y="3392001"/>
            <a:ext cx="1371600" cy="999781"/>
          </a:xfrm>
          <a:prstGeom prst="rect">
            <a:avLst/>
          </a:prstGeom>
        </p:spPr>
      </p:pic>
      <p:pic>
        <p:nvPicPr>
          <p:cNvPr id="12" name="Picture 11">
            <a:extLst>
              <a:ext uri="{FF2B5EF4-FFF2-40B4-BE49-F238E27FC236}">
                <a16:creationId xmlns:a16="http://schemas.microsoft.com/office/drawing/2014/main" id="{E75F1D3D-00AA-C202-90CA-DD91FCD74BD5}"/>
              </a:ext>
            </a:extLst>
          </p:cNvPr>
          <p:cNvPicPr>
            <a:picLocks noChangeAspect="1"/>
          </p:cNvPicPr>
          <p:nvPr/>
        </p:nvPicPr>
        <p:blipFill>
          <a:blip r:embed="rId10"/>
          <a:stretch>
            <a:fillRect/>
          </a:stretch>
        </p:blipFill>
        <p:spPr>
          <a:xfrm>
            <a:off x="9940298" y="4570945"/>
            <a:ext cx="1371600" cy="987879"/>
          </a:xfrm>
          <a:prstGeom prst="rect">
            <a:avLst/>
          </a:prstGeom>
        </p:spPr>
      </p:pic>
      <p:pic>
        <p:nvPicPr>
          <p:cNvPr id="13" name="Picture 12">
            <a:extLst>
              <a:ext uri="{FF2B5EF4-FFF2-40B4-BE49-F238E27FC236}">
                <a16:creationId xmlns:a16="http://schemas.microsoft.com/office/drawing/2014/main" id="{B242CB41-67EE-3E60-6305-903A2FEFAE8A}"/>
              </a:ext>
            </a:extLst>
          </p:cNvPr>
          <p:cNvPicPr>
            <a:picLocks noChangeAspect="1"/>
          </p:cNvPicPr>
          <p:nvPr/>
        </p:nvPicPr>
        <p:blipFill>
          <a:blip r:embed="rId11"/>
          <a:stretch>
            <a:fillRect/>
          </a:stretch>
        </p:blipFill>
        <p:spPr>
          <a:xfrm>
            <a:off x="9940298" y="5736004"/>
            <a:ext cx="1371600" cy="1015233"/>
          </a:xfrm>
          <a:prstGeom prst="rect">
            <a:avLst/>
          </a:prstGeom>
        </p:spPr>
      </p:pic>
      <p:sp>
        <p:nvSpPr>
          <p:cNvPr id="14" name="TextBox 13">
            <a:extLst>
              <a:ext uri="{FF2B5EF4-FFF2-40B4-BE49-F238E27FC236}">
                <a16:creationId xmlns:a16="http://schemas.microsoft.com/office/drawing/2014/main" id="{65E9D9CE-57A0-A871-2008-EB3117FEEEB0}"/>
              </a:ext>
            </a:extLst>
          </p:cNvPr>
          <p:cNvSpPr txBox="1"/>
          <p:nvPr/>
        </p:nvSpPr>
        <p:spPr>
          <a:xfrm>
            <a:off x="1629323" y="1848998"/>
            <a:ext cx="1821332" cy="369332"/>
          </a:xfrm>
          <a:prstGeom prst="rect">
            <a:avLst/>
          </a:prstGeom>
          <a:noFill/>
        </p:spPr>
        <p:txBody>
          <a:bodyPr wrap="none" rtlCol="0">
            <a:spAutoFit/>
          </a:bodyPr>
          <a:lstStyle/>
          <a:p>
            <a:r>
              <a:rPr lang="en-US" dirty="0"/>
              <a:t>KDE Distribution</a:t>
            </a:r>
          </a:p>
        </p:txBody>
      </p:sp>
      <p:sp>
        <p:nvSpPr>
          <p:cNvPr id="15" name="TextBox 14">
            <a:extLst>
              <a:ext uri="{FF2B5EF4-FFF2-40B4-BE49-F238E27FC236}">
                <a16:creationId xmlns:a16="http://schemas.microsoft.com/office/drawing/2014/main" id="{77B31392-27B9-1478-E6F0-8A9BEEC14E7D}"/>
              </a:ext>
            </a:extLst>
          </p:cNvPr>
          <p:cNvSpPr txBox="1"/>
          <p:nvPr/>
        </p:nvSpPr>
        <p:spPr>
          <a:xfrm>
            <a:off x="5329477" y="1844063"/>
            <a:ext cx="2364943" cy="369332"/>
          </a:xfrm>
          <a:prstGeom prst="rect">
            <a:avLst/>
          </a:prstGeom>
          <a:noFill/>
        </p:spPr>
        <p:txBody>
          <a:bodyPr wrap="none" rtlCol="0">
            <a:spAutoFit/>
          </a:bodyPr>
          <a:lstStyle/>
          <a:p>
            <a:r>
              <a:rPr lang="en-US" dirty="0"/>
              <a:t>Frequency-domain data</a:t>
            </a:r>
          </a:p>
        </p:txBody>
      </p:sp>
      <p:sp>
        <p:nvSpPr>
          <p:cNvPr id="16" name="TextBox 15">
            <a:extLst>
              <a:ext uri="{FF2B5EF4-FFF2-40B4-BE49-F238E27FC236}">
                <a16:creationId xmlns:a16="http://schemas.microsoft.com/office/drawing/2014/main" id="{00540CA1-6F64-ACD7-C29E-E603F1F5F4C3}"/>
              </a:ext>
            </a:extLst>
          </p:cNvPr>
          <p:cNvSpPr txBox="1"/>
          <p:nvPr/>
        </p:nvSpPr>
        <p:spPr>
          <a:xfrm>
            <a:off x="9029632" y="1817174"/>
            <a:ext cx="1879041" cy="369332"/>
          </a:xfrm>
          <a:prstGeom prst="rect">
            <a:avLst/>
          </a:prstGeom>
          <a:noFill/>
        </p:spPr>
        <p:txBody>
          <a:bodyPr wrap="none" rtlCol="0">
            <a:spAutoFit/>
          </a:bodyPr>
          <a:lstStyle/>
          <a:p>
            <a:r>
              <a:rPr lang="en-US" dirty="0"/>
              <a:t>Time-domain data</a:t>
            </a:r>
          </a:p>
        </p:txBody>
      </p:sp>
      <p:sp>
        <p:nvSpPr>
          <p:cNvPr id="17" name="TextBox 16">
            <a:extLst>
              <a:ext uri="{FF2B5EF4-FFF2-40B4-BE49-F238E27FC236}">
                <a16:creationId xmlns:a16="http://schemas.microsoft.com/office/drawing/2014/main" id="{935800D1-4F85-D119-9D5C-9D1406550BBD}"/>
              </a:ext>
            </a:extLst>
          </p:cNvPr>
          <p:cNvSpPr txBox="1"/>
          <p:nvPr/>
        </p:nvSpPr>
        <p:spPr>
          <a:xfrm>
            <a:off x="326079" y="2714734"/>
            <a:ext cx="797975" cy="369332"/>
          </a:xfrm>
          <a:prstGeom prst="rect">
            <a:avLst/>
          </a:prstGeom>
          <a:noFill/>
        </p:spPr>
        <p:txBody>
          <a:bodyPr wrap="none" rtlCol="0">
            <a:spAutoFit/>
          </a:bodyPr>
          <a:lstStyle/>
          <a:p>
            <a:r>
              <a:rPr lang="en-US" dirty="0"/>
              <a:t>X Axis</a:t>
            </a:r>
          </a:p>
        </p:txBody>
      </p:sp>
      <p:sp>
        <p:nvSpPr>
          <p:cNvPr id="18" name="TextBox 17">
            <a:extLst>
              <a:ext uri="{FF2B5EF4-FFF2-40B4-BE49-F238E27FC236}">
                <a16:creationId xmlns:a16="http://schemas.microsoft.com/office/drawing/2014/main" id="{897A7423-202D-33B3-C4AB-D2A934A99A0B}"/>
              </a:ext>
            </a:extLst>
          </p:cNvPr>
          <p:cNvSpPr txBox="1"/>
          <p:nvPr/>
        </p:nvSpPr>
        <p:spPr>
          <a:xfrm>
            <a:off x="326079" y="3673829"/>
            <a:ext cx="797975" cy="369332"/>
          </a:xfrm>
          <a:prstGeom prst="rect">
            <a:avLst/>
          </a:prstGeom>
          <a:noFill/>
        </p:spPr>
        <p:txBody>
          <a:bodyPr wrap="none" rtlCol="0">
            <a:spAutoFit/>
          </a:bodyPr>
          <a:lstStyle/>
          <a:p>
            <a:r>
              <a:rPr lang="en-US" dirty="0"/>
              <a:t>Y Axis</a:t>
            </a:r>
          </a:p>
        </p:txBody>
      </p:sp>
      <p:sp>
        <p:nvSpPr>
          <p:cNvPr id="19" name="TextBox 18">
            <a:extLst>
              <a:ext uri="{FF2B5EF4-FFF2-40B4-BE49-F238E27FC236}">
                <a16:creationId xmlns:a16="http://schemas.microsoft.com/office/drawing/2014/main" id="{E6B0593B-DBB0-2B8F-8E01-246A4A3F6427}"/>
              </a:ext>
            </a:extLst>
          </p:cNvPr>
          <p:cNvSpPr txBox="1"/>
          <p:nvPr/>
        </p:nvSpPr>
        <p:spPr>
          <a:xfrm>
            <a:off x="324635" y="4880218"/>
            <a:ext cx="797975" cy="369332"/>
          </a:xfrm>
          <a:prstGeom prst="rect">
            <a:avLst/>
          </a:prstGeom>
          <a:noFill/>
        </p:spPr>
        <p:txBody>
          <a:bodyPr wrap="none" rtlCol="0">
            <a:spAutoFit/>
          </a:bodyPr>
          <a:lstStyle/>
          <a:p>
            <a:r>
              <a:rPr lang="en-US" dirty="0"/>
              <a:t>Z Axis</a:t>
            </a:r>
          </a:p>
        </p:txBody>
      </p:sp>
      <p:cxnSp>
        <p:nvCxnSpPr>
          <p:cNvPr id="21" name="Straight Connector 20">
            <a:extLst>
              <a:ext uri="{FF2B5EF4-FFF2-40B4-BE49-F238E27FC236}">
                <a16:creationId xmlns:a16="http://schemas.microsoft.com/office/drawing/2014/main" id="{7435BF4A-0526-F4DB-F576-2D0A40F63A83}"/>
              </a:ext>
            </a:extLst>
          </p:cNvPr>
          <p:cNvCxnSpPr>
            <a:cxnSpLocks/>
          </p:cNvCxnSpPr>
          <p:nvPr/>
        </p:nvCxnSpPr>
        <p:spPr>
          <a:xfrm>
            <a:off x="1122610" y="2001840"/>
            <a:ext cx="0" cy="4676150"/>
          </a:xfrm>
          <a:prstGeom prst="line">
            <a:avLst/>
          </a:prstGeom>
        </p:spPr>
        <p:style>
          <a:lnRef idx="3">
            <a:schemeClr val="accent4"/>
          </a:lnRef>
          <a:fillRef idx="0">
            <a:schemeClr val="accent4"/>
          </a:fillRef>
          <a:effectRef idx="2">
            <a:schemeClr val="accent4"/>
          </a:effectRef>
          <a:fontRef idx="minor">
            <a:schemeClr val="tx1"/>
          </a:fontRef>
        </p:style>
      </p:cxnSp>
      <p:cxnSp>
        <p:nvCxnSpPr>
          <p:cNvPr id="22" name="Straight Connector 21">
            <a:extLst>
              <a:ext uri="{FF2B5EF4-FFF2-40B4-BE49-F238E27FC236}">
                <a16:creationId xmlns:a16="http://schemas.microsoft.com/office/drawing/2014/main" id="{2B984DA2-C8DB-C18A-19DE-A45011A38572}"/>
              </a:ext>
            </a:extLst>
          </p:cNvPr>
          <p:cNvCxnSpPr>
            <a:cxnSpLocks/>
          </p:cNvCxnSpPr>
          <p:nvPr/>
        </p:nvCxnSpPr>
        <p:spPr>
          <a:xfrm>
            <a:off x="3892949" y="1938962"/>
            <a:ext cx="0" cy="4739028"/>
          </a:xfrm>
          <a:prstGeom prst="line">
            <a:avLst/>
          </a:prstGeom>
        </p:spPr>
        <p:style>
          <a:lnRef idx="3">
            <a:schemeClr val="accent4"/>
          </a:lnRef>
          <a:fillRef idx="0">
            <a:schemeClr val="accent4"/>
          </a:fillRef>
          <a:effectRef idx="2">
            <a:schemeClr val="accent4"/>
          </a:effectRef>
          <a:fontRef idx="minor">
            <a:schemeClr val="tx1"/>
          </a:fontRef>
        </p:style>
      </p:cxnSp>
      <p:cxnSp>
        <p:nvCxnSpPr>
          <p:cNvPr id="25" name="Straight Connector 24">
            <a:extLst>
              <a:ext uri="{FF2B5EF4-FFF2-40B4-BE49-F238E27FC236}">
                <a16:creationId xmlns:a16="http://schemas.microsoft.com/office/drawing/2014/main" id="{23391CDD-CE1B-9837-4F39-EF68B3692CCC}"/>
              </a:ext>
            </a:extLst>
          </p:cNvPr>
          <p:cNvCxnSpPr>
            <a:cxnSpLocks/>
          </p:cNvCxnSpPr>
          <p:nvPr/>
        </p:nvCxnSpPr>
        <p:spPr>
          <a:xfrm>
            <a:off x="8489888" y="1970401"/>
            <a:ext cx="0" cy="473902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676271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3" name="Content Placeholder 2">
            <a:extLst>
              <a:ext uri="{FF2B5EF4-FFF2-40B4-BE49-F238E27FC236}">
                <a16:creationId xmlns:a16="http://schemas.microsoft.com/office/drawing/2014/main" id="{698FF9B0-8A4B-1B48-49A8-30CF1C9B13A4}"/>
              </a:ext>
            </a:extLst>
          </p:cNvPr>
          <p:cNvSpPr>
            <a:spLocks noGrp="1"/>
          </p:cNvSpPr>
          <p:nvPr>
            <p:ph idx="1"/>
          </p:nvPr>
        </p:nvSpPr>
        <p:spPr>
          <a:xfrm>
            <a:off x="1451578" y="2015733"/>
            <a:ext cx="9603275" cy="714942"/>
          </a:xfrm>
        </p:spPr>
        <p:txBody>
          <a:bodyPr>
            <a:normAutofit/>
          </a:bodyPr>
          <a:lstStyle/>
          <a:p>
            <a:r>
              <a:rPr lang="en-US" sz="1800" u="sng" dirty="0"/>
              <a:t>Title</a:t>
            </a:r>
            <a:r>
              <a:rPr lang="en-US" sz="1800" dirty="0"/>
              <a:t>: “</a:t>
            </a:r>
            <a:r>
              <a:rPr lang="en-US" sz="1800" dirty="0" err="1"/>
              <a:t>SubLIME</a:t>
            </a:r>
            <a:r>
              <a:rPr lang="en-US" sz="1800" dirty="0"/>
              <a:t>: Less is More for LLM Evaluation” [2024 ACM WWW Best Research Paper Award]</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3346750" cy="369332"/>
          </a:xfrm>
          <a:prstGeom prst="rect">
            <a:avLst/>
          </a:prstGeom>
          <a:noFill/>
        </p:spPr>
        <p:txBody>
          <a:bodyPr wrap="none" rtlCol="0">
            <a:spAutoFit/>
          </a:bodyPr>
          <a:lstStyle/>
          <a:p>
            <a:r>
              <a:rPr lang="en-US" dirty="0"/>
              <a:t>Introduction &amp; Key Contributions</a:t>
            </a:r>
          </a:p>
        </p:txBody>
      </p:sp>
      <p:sp>
        <p:nvSpPr>
          <p:cNvPr id="6" name="Content Placeholder 2">
            <a:extLst>
              <a:ext uri="{FF2B5EF4-FFF2-40B4-BE49-F238E27FC236}">
                <a16:creationId xmlns:a16="http://schemas.microsoft.com/office/drawing/2014/main" id="{8EB2CE42-A04A-9956-3059-A788D347AE0D}"/>
              </a:ext>
            </a:extLst>
          </p:cNvPr>
          <p:cNvSpPr txBox="1">
            <a:spLocks/>
          </p:cNvSpPr>
          <p:nvPr/>
        </p:nvSpPr>
        <p:spPr>
          <a:xfrm>
            <a:off x="1451579" y="2602868"/>
            <a:ext cx="4644421"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800" u="sng" dirty="0"/>
              <a:t>Background</a:t>
            </a:r>
            <a:r>
              <a:rPr lang="en-US" sz="1800" dirty="0"/>
              <a:t>:</a:t>
            </a:r>
          </a:p>
          <a:p>
            <a:pPr lvl="1"/>
            <a:r>
              <a:rPr lang="en-US" sz="1600" dirty="0"/>
              <a:t>Rapid growth of LLMs (over 400,000 models on </a:t>
            </a:r>
            <a:r>
              <a:rPr lang="en-US" sz="1600" dirty="0" err="1"/>
              <a:t>HuggingFace</a:t>
            </a:r>
            <a:r>
              <a:rPr lang="en-US" sz="1600" dirty="0"/>
              <a:t>, 3,000 on Open LLM Leaderboard)</a:t>
            </a:r>
          </a:p>
          <a:p>
            <a:pPr lvl="1"/>
            <a:r>
              <a:rPr lang="en-US" sz="1600" dirty="0"/>
              <a:t>Need for efficient evaluation due to high computational and financial costs</a:t>
            </a:r>
          </a:p>
          <a:p>
            <a:r>
              <a:rPr lang="en-US" sz="1800" u="sng" dirty="0"/>
              <a:t>Challenges</a:t>
            </a:r>
            <a:r>
              <a:rPr lang="en-US" sz="1800" dirty="0"/>
              <a:t>:</a:t>
            </a:r>
          </a:p>
          <a:p>
            <a:pPr lvl="1"/>
            <a:r>
              <a:rPr lang="en-US" sz="1600" dirty="0"/>
              <a:t>Expensive and time-consuming evaluations</a:t>
            </a:r>
          </a:p>
          <a:p>
            <a:pPr lvl="1"/>
            <a:r>
              <a:rPr lang="en-US" sz="1600" dirty="0"/>
              <a:t>Need for standardized benchmarks</a:t>
            </a:r>
          </a:p>
        </p:txBody>
      </p:sp>
      <p:sp>
        <p:nvSpPr>
          <p:cNvPr id="7" name="Content Placeholder 2">
            <a:extLst>
              <a:ext uri="{FF2B5EF4-FFF2-40B4-BE49-F238E27FC236}">
                <a16:creationId xmlns:a16="http://schemas.microsoft.com/office/drawing/2014/main" id="{1D6B9B9E-F3B1-1BC7-893D-0C6362C2E890}"/>
              </a:ext>
            </a:extLst>
          </p:cNvPr>
          <p:cNvSpPr txBox="1">
            <a:spLocks/>
          </p:cNvSpPr>
          <p:nvPr/>
        </p:nvSpPr>
        <p:spPr>
          <a:xfrm>
            <a:off x="6410432" y="2602867"/>
            <a:ext cx="4644421" cy="3450613"/>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800" u="sng" dirty="0"/>
              <a:t>Quality-Based Sampling:</a:t>
            </a:r>
          </a:p>
          <a:p>
            <a:pPr lvl="1"/>
            <a:r>
              <a:rPr lang="en-US" sz="1600" dirty="0"/>
              <a:t>Strong correlations (0.85 to 0.95) with full datasets at a 10% sampling rate</a:t>
            </a:r>
          </a:p>
          <a:p>
            <a:r>
              <a:rPr lang="en-US" sz="1800" u="sng" dirty="0"/>
              <a:t>Clustering Methods:</a:t>
            </a:r>
          </a:p>
          <a:p>
            <a:pPr lvl="1"/>
            <a:r>
              <a:rPr lang="en-US" sz="1600" dirty="0"/>
              <a:t>Effective in specific benchmarks</a:t>
            </a:r>
          </a:p>
          <a:p>
            <a:r>
              <a:rPr lang="en-US" sz="1800" u="sng" dirty="0"/>
              <a:t>Adaptive Sampling Framework:</a:t>
            </a:r>
          </a:p>
          <a:p>
            <a:pPr lvl="1"/>
            <a:r>
              <a:rPr lang="en-US" sz="1600" dirty="0"/>
              <a:t>Dynamically selects optimal technique per benchmark</a:t>
            </a:r>
          </a:p>
          <a:p>
            <a:pPr lvl="1"/>
            <a:r>
              <a:rPr lang="en-US" sz="1600" dirty="0"/>
              <a:t>Significant cost reduction while preserving ranking integrity</a:t>
            </a:r>
            <a:endParaRPr lang="en-US" sz="1400" dirty="0"/>
          </a:p>
        </p:txBody>
      </p:sp>
    </p:spTree>
    <p:extLst>
      <p:ext uri="{BB962C8B-B14F-4D97-AF65-F5344CB8AC3E}">
        <p14:creationId xmlns:p14="http://schemas.microsoft.com/office/powerpoint/2010/main" val="194534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3914661" cy="369332"/>
          </a:xfrm>
          <a:prstGeom prst="rect">
            <a:avLst/>
          </a:prstGeom>
          <a:noFill/>
        </p:spPr>
        <p:txBody>
          <a:bodyPr wrap="none" rtlCol="0">
            <a:spAutoFit/>
          </a:bodyPr>
          <a:lstStyle/>
          <a:p>
            <a:r>
              <a:rPr lang="en-US" dirty="0"/>
              <a:t>Sampling Strategy &amp; Experimental Setup</a:t>
            </a:r>
          </a:p>
        </p:txBody>
      </p:sp>
      <p:sp>
        <p:nvSpPr>
          <p:cNvPr id="6" name="Content Placeholder 2">
            <a:extLst>
              <a:ext uri="{FF2B5EF4-FFF2-40B4-BE49-F238E27FC236}">
                <a16:creationId xmlns:a16="http://schemas.microsoft.com/office/drawing/2014/main" id="{8EB2CE42-A04A-9956-3059-A788D347AE0D}"/>
              </a:ext>
            </a:extLst>
          </p:cNvPr>
          <p:cNvSpPr txBox="1">
            <a:spLocks/>
          </p:cNvSpPr>
          <p:nvPr/>
        </p:nvSpPr>
        <p:spPr>
          <a:xfrm>
            <a:off x="1451579" y="1938989"/>
            <a:ext cx="4644421" cy="411449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Random Sampling</a:t>
            </a:r>
            <a:r>
              <a:rPr lang="en-US" sz="1800" dirty="0"/>
              <a:t>:</a:t>
            </a:r>
          </a:p>
          <a:p>
            <a:pPr lvl="1" algn="just"/>
            <a:r>
              <a:rPr lang="en-US" sz="1600" dirty="0"/>
              <a:t>Baseline, used for fair comparison</a:t>
            </a:r>
          </a:p>
          <a:p>
            <a:pPr algn="just"/>
            <a:r>
              <a:rPr lang="en-US" sz="1800" u="sng" dirty="0"/>
              <a:t>Clustering-Based Sampling</a:t>
            </a:r>
            <a:r>
              <a:rPr lang="en-US" sz="1800" dirty="0"/>
              <a:t>:</a:t>
            </a:r>
          </a:p>
          <a:p>
            <a:pPr lvl="1" algn="just"/>
            <a:r>
              <a:rPr lang="en-US" sz="1600" dirty="0"/>
              <a:t>Techniques: LDA, NMF, K-means, Spectral Clustering</a:t>
            </a:r>
          </a:p>
          <a:p>
            <a:pPr lvl="1" algn="just"/>
            <a:r>
              <a:rPr lang="en-US" sz="1600" dirty="0"/>
              <a:t>Example: Spectral Clustering with BERT embeddings</a:t>
            </a:r>
          </a:p>
          <a:p>
            <a:pPr algn="just"/>
            <a:r>
              <a:rPr lang="en-US" sz="1800" u="sng" dirty="0"/>
              <a:t>Quality-Based Sampling</a:t>
            </a:r>
            <a:r>
              <a:rPr lang="en-US" sz="1800" dirty="0"/>
              <a:t>:</a:t>
            </a:r>
          </a:p>
          <a:p>
            <a:pPr lvl="1" algn="just"/>
            <a:r>
              <a:rPr lang="en-US" sz="1600" dirty="0"/>
              <a:t>Metrics: Word length, diversity, repetitiveness</a:t>
            </a:r>
          </a:p>
          <a:p>
            <a:pPr lvl="1" algn="just"/>
            <a:r>
              <a:rPr lang="en-US" sz="1600" dirty="0"/>
              <a:t>Example: Compound Probability Distribution (CPD)</a:t>
            </a:r>
            <a:endParaRPr lang="en-US" sz="1400" dirty="0"/>
          </a:p>
        </p:txBody>
      </p:sp>
      <p:sp>
        <p:nvSpPr>
          <p:cNvPr id="7" name="Content Placeholder 2">
            <a:extLst>
              <a:ext uri="{FF2B5EF4-FFF2-40B4-BE49-F238E27FC236}">
                <a16:creationId xmlns:a16="http://schemas.microsoft.com/office/drawing/2014/main" id="{1D6B9B9E-F3B1-1BC7-893D-0C6362C2E890}"/>
              </a:ext>
            </a:extLst>
          </p:cNvPr>
          <p:cNvSpPr txBox="1">
            <a:spLocks/>
          </p:cNvSpPr>
          <p:nvPr/>
        </p:nvSpPr>
        <p:spPr>
          <a:xfrm>
            <a:off x="6410432" y="1938989"/>
            <a:ext cx="4644421" cy="38104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Benchmarks</a:t>
            </a:r>
            <a:r>
              <a:rPr lang="en-US" sz="1800" dirty="0"/>
              <a:t>:</a:t>
            </a:r>
          </a:p>
          <a:p>
            <a:pPr lvl="1" algn="just"/>
            <a:r>
              <a:rPr lang="en-US" sz="1600" dirty="0" err="1"/>
              <a:t>TruthfulQA</a:t>
            </a:r>
            <a:r>
              <a:rPr lang="en-US" sz="1600" dirty="0"/>
              <a:t>, ARC, </a:t>
            </a:r>
            <a:r>
              <a:rPr lang="en-US" sz="1600" dirty="0" err="1"/>
              <a:t>Winogrande</a:t>
            </a:r>
            <a:r>
              <a:rPr lang="en-US" sz="1600" dirty="0"/>
              <a:t>, GSM8k, MMLU, </a:t>
            </a:r>
            <a:r>
              <a:rPr lang="en-US" sz="1600" dirty="0" err="1"/>
              <a:t>Hellaswag</a:t>
            </a:r>
            <a:endParaRPr lang="en-US" sz="1600" dirty="0"/>
          </a:p>
          <a:p>
            <a:pPr algn="just"/>
            <a:r>
              <a:rPr lang="en-US" sz="1800" u="sng" dirty="0"/>
              <a:t>LLMs</a:t>
            </a:r>
            <a:r>
              <a:rPr lang="en-US" sz="1800" dirty="0"/>
              <a:t>:</a:t>
            </a:r>
          </a:p>
          <a:p>
            <a:pPr lvl="1" algn="just"/>
            <a:r>
              <a:rPr lang="en-US" sz="1600" dirty="0"/>
              <a:t>Top 50 models from Open LLM Leaderboard</a:t>
            </a:r>
          </a:p>
          <a:p>
            <a:pPr algn="just"/>
            <a:r>
              <a:rPr lang="en-US" sz="1800" u="sng" dirty="0"/>
              <a:t>Metrics</a:t>
            </a:r>
            <a:r>
              <a:rPr lang="en-US" sz="1800" dirty="0"/>
              <a:t>:</a:t>
            </a:r>
          </a:p>
          <a:p>
            <a:pPr lvl="1" algn="just"/>
            <a:r>
              <a:rPr lang="en-US" sz="1600" dirty="0"/>
              <a:t>Rank preservation, score distribution</a:t>
            </a:r>
          </a:p>
          <a:p>
            <a:pPr algn="just"/>
            <a:r>
              <a:rPr lang="en-US" sz="1800" u="sng" dirty="0"/>
              <a:t>Sampling Rates</a:t>
            </a:r>
            <a:r>
              <a:rPr lang="en-US" sz="1800" dirty="0"/>
              <a:t>:</a:t>
            </a:r>
          </a:p>
          <a:p>
            <a:pPr lvl="1" algn="just"/>
            <a:r>
              <a:rPr lang="en-US" sz="1600" dirty="0"/>
              <a:t>1% to 100% at 1% increments</a:t>
            </a:r>
          </a:p>
        </p:txBody>
      </p:sp>
    </p:spTree>
    <p:extLst>
      <p:ext uri="{BB962C8B-B14F-4D97-AF65-F5344CB8AC3E}">
        <p14:creationId xmlns:p14="http://schemas.microsoft.com/office/powerpoint/2010/main" val="724933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3658181" cy="369332"/>
          </a:xfrm>
          <a:prstGeom prst="rect">
            <a:avLst/>
          </a:prstGeom>
          <a:noFill/>
        </p:spPr>
        <p:txBody>
          <a:bodyPr wrap="none" rtlCol="0">
            <a:spAutoFit/>
          </a:bodyPr>
          <a:lstStyle/>
          <a:p>
            <a:r>
              <a:rPr lang="en-US" dirty="0"/>
              <a:t>Result of Individual Sampling Strategy</a:t>
            </a:r>
          </a:p>
        </p:txBody>
      </p:sp>
      <p:pic>
        <p:nvPicPr>
          <p:cNvPr id="3" name="Picture 2">
            <a:extLst>
              <a:ext uri="{FF2B5EF4-FFF2-40B4-BE49-F238E27FC236}">
                <a16:creationId xmlns:a16="http://schemas.microsoft.com/office/drawing/2014/main" id="{A2505CE8-F7EB-2569-901D-A4981401C1DD}"/>
              </a:ext>
            </a:extLst>
          </p:cNvPr>
          <p:cNvPicPr>
            <a:picLocks noChangeAspect="1"/>
          </p:cNvPicPr>
          <p:nvPr/>
        </p:nvPicPr>
        <p:blipFill>
          <a:blip r:embed="rId3"/>
          <a:stretch>
            <a:fillRect/>
          </a:stretch>
        </p:blipFill>
        <p:spPr>
          <a:xfrm>
            <a:off x="2209800" y="2006405"/>
            <a:ext cx="7772400" cy="3886200"/>
          </a:xfrm>
          <a:prstGeom prst="rect">
            <a:avLst/>
          </a:prstGeom>
        </p:spPr>
      </p:pic>
    </p:spTree>
    <p:extLst>
      <p:ext uri="{BB962C8B-B14F-4D97-AF65-F5344CB8AC3E}">
        <p14:creationId xmlns:p14="http://schemas.microsoft.com/office/powerpoint/2010/main" val="2132077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4656852" cy="369332"/>
          </a:xfrm>
          <a:prstGeom prst="rect">
            <a:avLst/>
          </a:prstGeom>
          <a:noFill/>
        </p:spPr>
        <p:txBody>
          <a:bodyPr wrap="none" rtlCol="0">
            <a:spAutoFit/>
          </a:bodyPr>
          <a:lstStyle/>
          <a:p>
            <a:r>
              <a:rPr lang="en-US" dirty="0"/>
              <a:t>Analysis Result &amp; Adaptive Sampling Framework</a:t>
            </a:r>
          </a:p>
        </p:txBody>
      </p:sp>
      <p:sp>
        <p:nvSpPr>
          <p:cNvPr id="6" name="Content Placeholder 2">
            <a:extLst>
              <a:ext uri="{FF2B5EF4-FFF2-40B4-BE49-F238E27FC236}">
                <a16:creationId xmlns:a16="http://schemas.microsoft.com/office/drawing/2014/main" id="{8EB2CE42-A04A-9956-3059-A788D347AE0D}"/>
              </a:ext>
            </a:extLst>
          </p:cNvPr>
          <p:cNvSpPr txBox="1">
            <a:spLocks/>
          </p:cNvSpPr>
          <p:nvPr/>
        </p:nvSpPr>
        <p:spPr>
          <a:xfrm>
            <a:off x="1451579" y="1938989"/>
            <a:ext cx="4644421" cy="411449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Quality-Based Sampling</a:t>
            </a:r>
            <a:r>
              <a:rPr lang="en-US" sz="1800" dirty="0"/>
              <a:t>:</a:t>
            </a:r>
          </a:p>
          <a:p>
            <a:pPr lvl="1" algn="just"/>
            <a:r>
              <a:rPr lang="en-US" sz="1600" dirty="0"/>
              <a:t>High performance with CPD and spelling error metrics</a:t>
            </a:r>
          </a:p>
          <a:p>
            <a:pPr algn="just"/>
            <a:r>
              <a:rPr lang="en-US" sz="1800" u="sng" dirty="0"/>
              <a:t>Clustering Methods</a:t>
            </a:r>
            <a:r>
              <a:rPr lang="en-US" sz="1800" dirty="0"/>
              <a:t>:</a:t>
            </a:r>
          </a:p>
          <a:p>
            <a:pPr lvl="1" algn="just"/>
            <a:r>
              <a:rPr lang="en-US" sz="1600" dirty="0"/>
              <a:t>Spectral Clustering with MTEB and BERT embeddings</a:t>
            </a:r>
          </a:p>
          <a:p>
            <a:pPr algn="just"/>
            <a:r>
              <a:rPr lang="en-US" sz="1800" u="sng" dirty="0"/>
              <a:t>Adaptive Sampling</a:t>
            </a:r>
            <a:r>
              <a:rPr lang="en-US" sz="1800" dirty="0"/>
              <a:t>:</a:t>
            </a:r>
          </a:p>
          <a:p>
            <a:pPr lvl="1" algn="just"/>
            <a:r>
              <a:rPr lang="en-US" sz="1600" dirty="0"/>
              <a:t>Effective in maintaining rank and score distribution</a:t>
            </a:r>
          </a:p>
          <a:p>
            <a:pPr lvl="1" algn="just"/>
            <a:r>
              <a:rPr lang="en-US" sz="1600" dirty="0"/>
              <a:t>Reduced evaluation time by up to 99% for benchmarks like MMLU</a:t>
            </a:r>
          </a:p>
        </p:txBody>
      </p:sp>
      <p:sp>
        <p:nvSpPr>
          <p:cNvPr id="7" name="Content Placeholder 2">
            <a:extLst>
              <a:ext uri="{FF2B5EF4-FFF2-40B4-BE49-F238E27FC236}">
                <a16:creationId xmlns:a16="http://schemas.microsoft.com/office/drawing/2014/main" id="{1D6B9B9E-F3B1-1BC7-893D-0C6362C2E890}"/>
              </a:ext>
            </a:extLst>
          </p:cNvPr>
          <p:cNvSpPr txBox="1">
            <a:spLocks/>
          </p:cNvSpPr>
          <p:nvPr/>
        </p:nvSpPr>
        <p:spPr>
          <a:xfrm>
            <a:off x="6410432" y="1938989"/>
            <a:ext cx="4644421" cy="38104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Dynamic Selection</a:t>
            </a:r>
            <a:r>
              <a:rPr lang="en-US" sz="1800" dirty="0"/>
              <a:t>:</a:t>
            </a:r>
          </a:p>
          <a:p>
            <a:pPr lvl="1" algn="just"/>
            <a:r>
              <a:rPr lang="en-US" sz="1600" dirty="0"/>
              <a:t>Adapts to benchmark characteristics</a:t>
            </a:r>
          </a:p>
          <a:p>
            <a:pPr lvl="1" algn="just"/>
            <a:r>
              <a:rPr lang="en-US" sz="1600" dirty="0"/>
              <a:t>Uses statistical measures (e.g., Pearson correlation)</a:t>
            </a:r>
          </a:p>
          <a:p>
            <a:pPr algn="just"/>
            <a:r>
              <a:rPr lang="en-US" sz="1800" u="sng" dirty="0"/>
              <a:t>Use Cases:</a:t>
            </a:r>
          </a:p>
          <a:p>
            <a:pPr lvl="1" algn="just"/>
            <a:r>
              <a:rPr lang="en-US" sz="1600" dirty="0"/>
              <a:t>Efficient evaluation with consistent rank preservation</a:t>
            </a:r>
          </a:p>
          <a:p>
            <a:pPr lvl="1" algn="just"/>
            <a:r>
              <a:rPr lang="en-US" sz="1600" dirty="0"/>
              <a:t>Enhanced score distribution with difficulty-based sampling</a:t>
            </a:r>
          </a:p>
        </p:txBody>
      </p:sp>
    </p:spTree>
    <p:extLst>
      <p:ext uri="{BB962C8B-B14F-4D97-AF65-F5344CB8AC3E}">
        <p14:creationId xmlns:p14="http://schemas.microsoft.com/office/powerpoint/2010/main" val="3463059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4894738" cy="369332"/>
          </a:xfrm>
          <a:prstGeom prst="rect">
            <a:avLst/>
          </a:prstGeom>
          <a:noFill/>
        </p:spPr>
        <p:txBody>
          <a:bodyPr wrap="none" rtlCol="0">
            <a:spAutoFit/>
          </a:bodyPr>
          <a:lstStyle/>
          <a:p>
            <a:r>
              <a:rPr lang="en-US" dirty="0"/>
              <a:t>Result of Adaptive Sampling Framework on MMLU</a:t>
            </a:r>
          </a:p>
        </p:txBody>
      </p:sp>
      <p:grpSp>
        <p:nvGrpSpPr>
          <p:cNvPr id="3" name="Group 2">
            <a:extLst>
              <a:ext uri="{FF2B5EF4-FFF2-40B4-BE49-F238E27FC236}">
                <a16:creationId xmlns:a16="http://schemas.microsoft.com/office/drawing/2014/main" id="{416ADF05-1AEB-FF7B-8437-BC298EED4BA4}"/>
              </a:ext>
            </a:extLst>
          </p:cNvPr>
          <p:cNvGrpSpPr>
            <a:grpSpLocks/>
          </p:cNvGrpSpPr>
          <p:nvPr/>
        </p:nvGrpSpPr>
        <p:grpSpPr>
          <a:xfrm>
            <a:off x="751414" y="2115393"/>
            <a:ext cx="5220000" cy="3240000"/>
            <a:chOff x="0" y="0"/>
            <a:chExt cx="2242977" cy="1499798"/>
          </a:xfrm>
        </p:grpSpPr>
        <p:pic>
          <p:nvPicPr>
            <p:cNvPr id="5" name="Image 108">
              <a:extLst>
                <a:ext uri="{FF2B5EF4-FFF2-40B4-BE49-F238E27FC236}">
                  <a16:creationId xmlns:a16="http://schemas.microsoft.com/office/drawing/2014/main" id="{FFDCC3BD-E6CD-BDAF-AC40-B022A0825AD0}"/>
                </a:ext>
              </a:extLst>
            </p:cNvPr>
            <p:cNvPicPr/>
            <p:nvPr/>
          </p:nvPicPr>
          <p:blipFill>
            <a:blip r:embed="rId3" cstate="print"/>
            <a:stretch>
              <a:fillRect/>
            </a:stretch>
          </p:blipFill>
          <p:spPr>
            <a:xfrm>
              <a:off x="592757" y="1358790"/>
              <a:ext cx="108967" cy="68440"/>
            </a:xfrm>
            <a:prstGeom prst="rect">
              <a:avLst/>
            </a:prstGeom>
          </p:spPr>
        </p:pic>
        <p:pic>
          <p:nvPicPr>
            <p:cNvPr id="8" name="Image 109">
              <a:extLst>
                <a:ext uri="{FF2B5EF4-FFF2-40B4-BE49-F238E27FC236}">
                  <a16:creationId xmlns:a16="http://schemas.microsoft.com/office/drawing/2014/main" id="{BB50FCCD-ADB2-14ED-C680-F3EB056BE201}"/>
                </a:ext>
              </a:extLst>
            </p:cNvPr>
            <p:cNvPicPr/>
            <p:nvPr/>
          </p:nvPicPr>
          <p:blipFill>
            <a:blip r:embed="rId4" cstate="print"/>
            <a:stretch>
              <a:fillRect/>
            </a:stretch>
          </p:blipFill>
          <p:spPr>
            <a:xfrm>
              <a:off x="1730322" y="1358790"/>
              <a:ext cx="112198" cy="68440"/>
            </a:xfrm>
            <a:prstGeom prst="rect">
              <a:avLst/>
            </a:prstGeom>
          </p:spPr>
        </p:pic>
        <p:pic>
          <p:nvPicPr>
            <p:cNvPr id="9" name="Image 110">
              <a:extLst>
                <a:ext uri="{FF2B5EF4-FFF2-40B4-BE49-F238E27FC236}">
                  <a16:creationId xmlns:a16="http://schemas.microsoft.com/office/drawing/2014/main" id="{D89857BA-2FBB-8DDD-06D8-F494EF6E6C7B}"/>
                </a:ext>
              </a:extLst>
            </p:cNvPr>
            <p:cNvPicPr/>
            <p:nvPr/>
          </p:nvPicPr>
          <p:blipFill>
            <a:blip r:embed="rId5" cstate="print"/>
            <a:stretch>
              <a:fillRect/>
            </a:stretch>
          </p:blipFill>
          <p:spPr>
            <a:xfrm>
              <a:off x="971062" y="1358790"/>
              <a:ext cx="491192" cy="141008"/>
            </a:xfrm>
            <a:prstGeom prst="rect">
              <a:avLst/>
            </a:prstGeom>
          </p:spPr>
        </p:pic>
        <p:pic>
          <p:nvPicPr>
            <p:cNvPr id="10" name="Image 111">
              <a:extLst>
                <a:ext uri="{FF2B5EF4-FFF2-40B4-BE49-F238E27FC236}">
                  <a16:creationId xmlns:a16="http://schemas.microsoft.com/office/drawing/2014/main" id="{26C0655E-57BD-A4CF-1AFD-A7B07E27C46C}"/>
                </a:ext>
              </a:extLst>
            </p:cNvPr>
            <p:cNvPicPr/>
            <p:nvPr/>
          </p:nvPicPr>
          <p:blipFill>
            <a:blip r:embed="rId6" cstate="print"/>
            <a:stretch>
              <a:fillRect/>
            </a:stretch>
          </p:blipFill>
          <p:spPr>
            <a:xfrm>
              <a:off x="2112070" y="1358790"/>
              <a:ext cx="110715" cy="68440"/>
            </a:xfrm>
            <a:prstGeom prst="rect">
              <a:avLst/>
            </a:prstGeom>
          </p:spPr>
        </p:pic>
        <p:pic>
          <p:nvPicPr>
            <p:cNvPr id="11" name="Image 112">
              <a:extLst>
                <a:ext uri="{FF2B5EF4-FFF2-40B4-BE49-F238E27FC236}">
                  <a16:creationId xmlns:a16="http://schemas.microsoft.com/office/drawing/2014/main" id="{80920722-D792-2B96-94A9-8C0329BD0592}"/>
                </a:ext>
              </a:extLst>
            </p:cNvPr>
            <p:cNvPicPr/>
            <p:nvPr/>
          </p:nvPicPr>
          <p:blipFill>
            <a:blip r:embed="rId7" cstate="print"/>
            <a:stretch>
              <a:fillRect/>
            </a:stretch>
          </p:blipFill>
          <p:spPr>
            <a:xfrm>
              <a:off x="0" y="70282"/>
              <a:ext cx="304611" cy="1356948"/>
            </a:xfrm>
            <a:prstGeom prst="rect">
              <a:avLst/>
            </a:prstGeom>
          </p:spPr>
        </p:pic>
        <p:sp>
          <p:nvSpPr>
            <p:cNvPr id="12" name="Graphic 113">
              <a:extLst>
                <a:ext uri="{FF2B5EF4-FFF2-40B4-BE49-F238E27FC236}">
                  <a16:creationId xmlns:a16="http://schemas.microsoft.com/office/drawing/2014/main" id="{6923A4C6-2E6F-AB4A-21A4-372ABFFF4665}"/>
                </a:ext>
              </a:extLst>
            </p:cNvPr>
            <p:cNvSpPr/>
            <p:nvPr/>
          </p:nvSpPr>
          <p:spPr>
            <a:xfrm>
              <a:off x="265515" y="163559"/>
              <a:ext cx="1977389" cy="638810"/>
            </a:xfrm>
            <a:custGeom>
              <a:avLst/>
              <a:gdLst/>
              <a:ahLst/>
              <a:cxnLst/>
              <a:rect l="l" t="t" r="r" b="b"/>
              <a:pathLst>
                <a:path w="1977389" h="638810">
                  <a:moveTo>
                    <a:pt x="0" y="474106"/>
                  </a:moveTo>
                  <a:lnTo>
                    <a:pt x="38026" y="638302"/>
                  </a:lnTo>
                  <a:lnTo>
                    <a:pt x="76053" y="529297"/>
                  </a:lnTo>
                  <a:lnTo>
                    <a:pt x="114079" y="312372"/>
                  </a:lnTo>
                  <a:lnTo>
                    <a:pt x="152105" y="214755"/>
                  </a:lnTo>
                  <a:lnTo>
                    <a:pt x="190132" y="212586"/>
                  </a:lnTo>
                  <a:lnTo>
                    <a:pt x="228159" y="134493"/>
                  </a:lnTo>
                  <a:lnTo>
                    <a:pt x="266185" y="158355"/>
                  </a:lnTo>
                  <a:lnTo>
                    <a:pt x="304212" y="93277"/>
                  </a:lnTo>
                  <a:lnTo>
                    <a:pt x="342238" y="145339"/>
                  </a:lnTo>
                  <a:lnTo>
                    <a:pt x="380265" y="151847"/>
                  </a:lnTo>
                  <a:lnTo>
                    <a:pt x="418292" y="225602"/>
                  </a:lnTo>
                  <a:lnTo>
                    <a:pt x="456318" y="145339"/>
                  </a:lnTo>
                  <a:lnTo>
                    <a:pt x="494344" y="160524"/>
                  </a:lnTo>
                  <a:lnTo>
                    <a:pt x="532371" y="180048"/>
                  </a:lnTo>
                  <a:lnTo>
                    <a:pt x="570397" y="134493"/>
                  </a:lnTo>
                  <a:lnTo>
                    <a:pt x="608424" y="145339"/>
                  </a:lnTo>
                  <a:lnTo>
                    <a:pt x="646451" y="132324"/>
                  </a:lnTo>
                  <a:lnTo>
                    <a:pt x="684477" y="143170"/>
                  </a:lnTo>
                  <a:lnTo>
                    <a:pt x="722504" y="117139"/>
                  </a:lnTo>
                  <a:lnTo>
                    <a:pt x="760530" y="52062"/>
                  </a:lnTo>
                  <a:lnTo>
                    <a:pt x="798557" y="54231"/>
                  </a:lnTo>
                  <a:lnTo>
                    <a:pt x="836583" y="58569"/>
                  </a:lnTo>
                  <a:lnTo>
                    <a:pt x="874610" y="30369"/>
                  </a:lnTo>
                  <a:lnTo>
                    <a:pt x="912636" y="52062"/>
                  </a:lnTo>
                  <a:lnTo>
                    <a:pt x="950663" y="26030"/>
                  </a:lnTo>
                  <a:lnTo>
                    <a:pt x="988690" y="26030"/>
                  </a:lnTo>
                  <a:lnTo>
                    <a:pt x="1026716" y="36877"/>
                  </a:lnTo>
                  <a:lnTo>
                    <a:pt x="1064742" y="39046"/>
                  </a:lnTo>
                  <a:lnTo>
                    <a:pt x="1102769" y="45554"/>
                  </a:lnTo>
                  <a:lnTo>
                    <a:pt x="1140795" y="34707"/>
                  </a:lnTo>
                  <a:lnTo>
                    <a:pt x="1178822" y="32539"/>
                  </a:lnTo>
                  <a:lnTo>
                    <a:pt x="1216849" y="32539"/>
                  </a:lnTo>
                  <a:lnTo>
                    <a:pt x="1254875" y="39046"/>
                  </a:lnTo>
                  <a:lnTo>
                    <a:pt x="1292902" y="32539"/>
                  </a:lnTo>
                  <a:lnTo>
                    <a:pt x="1330928" y="32539"/>
                  </a:lnTo>
                  <a:lnTo>
                    <a:pt x="1368955" y="32539"/>
                  </a:lnTo>
                  <a:lnTo>
                    <a:pt x="1406981" y="32539"/>
                  </a:lnTo>
                  <a:lnTo>
                    <a:pt x="1445008" y="43385"/>
                  </a:lnTo>
                  <a:lnTo>
                    <a:pt x="1483034" y="39046"/>
                  </a:lnTo>
                  <a:lnTo>
                    <a:pt x="1521061" y="39046"/>
                  </a:lnTo>
                  <a:lnTo>
                    <a:pt x="1559088" y="39046"/>
                  </a:lnTo>
                  <a:lnTo>
                    <a:pt x="1597114" y="32539"/>
                  </a:lnTo>
                  <a:lnTo>
                    <a:pt x="1635141" y="32539"/>
                  </a:lnTo>
                  <a:lnTo>
                    <a:pt x="1673167" y="28200"/>
                  </a:lnTo>
                  <a:lnTo>
                    <a:pt x="1711193" y="17353"/>
                  </a:lnTo>
                  <a:lnTo>
                    <a:pt x="1749220" y="0"/>
                  </a:lnTo>
                  <a:lnTo>
                    <a:pt x="1787247" y="2169"/>
                  </a:lnTo>
                  <a:lnTo>
                    <a:pt x="1825273" y="2169"/>
                  </a:lnTo>
                  <a:lnTo>
                    <a:pt x="1863300" y="0"/>
                  </a:lnTo>
                  <a:lnTo>
                    <a:pt x="1901326" y="2169"/>
                  </a:lnTo>
                  <a:lnTo>
                    <a:pt x="1939353" y="2169"/>
                  </a:lnTo>
                  <a:lnTo>
                    <a:pt x="1977379" y="0"/>
                  </a:lnTo>
                </a:path>
              </a:pathLst>
            </a:custGeom>
            <a:ln w="7064">
              <a:solidFill>
                <a:srgbClr val="0000FF"/>
              </a:solidFill>
              <a:prstDash val="solid"/>
            </a:ln>
          </p:spPr>
          <p:txBody>
            <a:bodyPr wrap="square" lIns="0" tIns="0" rIns="0" bIns="0" rtlCol="0">
              <a:prstTxWarp prst="textNoShape">
                <a:avLst/>
              </a:prstTxWarp>
              <a:noAutofit/>
            </a:bodyPr>
            <a:lstStyle/>
            <a:p>
              <a:endParaRPr lang="en-GB"/>
            </a:p>
          </p:txBody>
        </p:sp>
        <p:sp>
          <p:nvSpPr>
            <p:cNvPr id="13" name="Graphic 114">
              <a:extLst>
                <a:ext uri="{FF2B5EF4-FFF2-40B4-BE49-F238E27FC236}">
                  <a16:creationId xmlns:a16="http://schemas.microsoft.com/office/drawing/2014/main" id="{3A4E52C0-F5DC-71F3-6693-D5DC396FC662}"/>
                </a:ext>
              </a:extLst>
            </p:cNvPr>
            <p:cNvSpPr/>
            <p:nvPr/>
          </p:nvSpPr>
          <p:spPr>
            <a:xfrm>
              <a:off x="265515" y="222129"/>
              <a:ext cx="1977389" cy="997585"/>
            </a:xfrm>
            <a:custGeom>
              <a:avLst/>
              <a:gdLst/>
              <a:ahLst/>
              <a:cxnLst/>
              <a:rect l="l" t="t" r="r" b="b"/>
              <a:pathLst>
                <a:path w="1977389" h="997585">
                  <a:moveTo>
                    <a:pt x="0" y="997561"/>
                  </a:moveTo>
                  <a:lnTo>
                    <a:pt x="38026" y="628133"/>
                  </a:lnTo>
                  <a:lnTo>
                    <a:pt x="76053" y="583528"/>
                  </a:lnTo>
                  <a:lnTo>
                    <a:pt x="114079" y="635590"/>
                  </a:lnTo>
                  <a:lnTo>
                    <a:pt x="152105" y="568343"/>
                  </a:lnTo>
                  <a:lnTo>
                    <a:pt x="190132" y="568343"/>
                  </a:lnTo>
                  <a:lnTo>
                    <a:pt x="228159" y="509774"/>
                  </a:lnTo>
                  <a:lnTo>
                    <a:pt x="266185" y="494589"/>
                  </a:lnTo>
                  <a:lnTo>
                    <a:pt x="304212" y="429511"/>
                  </a:lnTo>
                  <a:lnTo>
                    <a:pt x="342238" y="297187"/>
                  </a:lnTo>
                  <a:lnTo>
                    <a:pt x="380265" y="314541"/>
                  </a:lnTo>
                  <a:lnTo>
                    <a:pt x="418292" y="260310"/>
                  </a:lnTo>
                  <a:lnTo>
                    <a:pt x="456318" y="141001"/>
                  </a:lnTo>
                  <a:lnTo>
                    <a:pt x="494344" y="147509"/>
                  </a:lnTo>
                  <a:lnTo>
                    <a:pt x="532371" y="127985"/>
                  </a:lnTo>
                  <a:lnTo>
                    <a:pt x="570397" y="164863"/>
                  </a:lnTo>
                  <a:lnTo>
                    <a:pt x="608424" y="149678"/>
                  </a:lnTo>
                  <a:lnTo>
                    <a:pt x="646451" y="112801"/>
                  </a:lnTo>
                  <a:lnTo>
                    <a:pt x="684477" y="154016"/>
                  </a:lnTo>
                  <a:lnTo>
                    <a:pt x="722504" y="149678"/>
                  </a:lnTo>
                  <a:lnTo>
                    <a:pt x="760530" y="110631"/>
                  </a:lnTo>
                  <a:lnTo>
                    <a:pt x="798557" y="121478"/>
                  </a:lnTo>
                  <a:lnTo>
                    <a:pt x="836583" y="138832"/>
                  </a:lnTo>
                  <a:lnTo>
                    <a:pt x="874610" y="201740"/>
                  </a:lnTo>
                  <a:lnTo>
                    <a:pt x="912636" y="219094"/>
                  </a:lnTo>
                  <a:lnTo>
                    <a:pt x="950663" y="221263"/>
                  </a:lnTo>
                  <a:lnTo>
                    <a:pt x="988690" y="190893"/>
                  </a:lnTo>
                  <a:lnTo>
                    <a:pt x="1026716" y="180047"/>
                  </a:lnTo>
                  <a:lnTo>
                    <a:pt x="1064742" y="188724"/>
                  </a:lnTo>
                  <a:lnTo>
                    <a:pt x="1102769" y="206078"/>
                  </a:lnTo>
                  <a:lnTo>
                    <a:pt x="1140795" y="210417"/>
                  </a:lnTo>
                  <a:lnTo>
                    <a:pt x="1178822" y="201740"/>
                  </a:lnTo>
                  <a:lnTo>
                    <a:pt x="1216849" y="210417"/>
                  </a:lnTo>
                  <a:lnTo>
                    <a:pt x="1254875" y="104124"/>
                  </a:lnTo>
                  <a:lnTo>
                    <a:pt x="1292902" y="19523"/>
                  </a:lnTo>
                  <a:lnTo>
                    <a:pt x="1330928" y="28200"/>
                  </a:lnTo>
                  <a:lnTo>
                    <a:pt x="1368955" y="15184"/>
                  </a:lnTo>
                  <a:lnTo>
                    <a:pt x="1406981" y="17353"/>
                  </a:lnTo>
                  <a:lnTo>
                    <a:pt x="1445008" y="17353"/>
                  </a:lnTo>
                  <a:lnTo>
                    <a:pt x="1483034" y="15184"/>
                  </a:lnTo>
                  <a:lnTo>
                    <a:pt x="1521061" y="15184"/>
                  </a:lnTo>
                  <a:lnTo>
                    <a:pt x="1559088" y="26030"/>
                  </a:lnTo>
                  <a:lnTo>
                    <a:pt x="1597114" y="26030"/>
                  </a:lnTo>
                  <a:lnTo>
                    <a:pt x="1635141" y="15184"/>
                  </a:lnTo>
                  <a:lnTo>
                    <a:pt x="1673167" y="4338"/>
                  </a:lnTo>
                  <a:lnTo>
                    <a:pt x="1711193" y="10846"/>
                  </a:lnTo>
                  <a:lnTo>
                    <a:pt x="1749220" y="10846"/>
                  </a:lnTo>
                  <a:lnTo>
                    <a:pt x="1787247" y="0"/>
                  </a:lnTo>
                  <a:lnTo>
                    <a:pt x="1825273" y="15184"/>
                  </a:lnTo>
                  <a:lnTo>
                    <a:pt x="1863300" y="10846"/>
                  </a:lnTo>
                  <a:lnTo>
                    <a:pt x="1901326" y="6507"/>
                  </a:lnTo>
                  <a:lnTo>
                    <a:pt x="1939353" y="10846"/>
                  </a:lnTo>
                  <a:lnTo>
                    <a:pt x="1977379" y="19523"/>
                  </a:lnTo>
                </a:path>
              </a:pathLst>
            </a:custGeom>
            <a:ln w="7169">
              <a:solidFill>
                <a:srgbClr val="007F00"/>
              </a:solidFill>
              <a:prstDash val="lgDash"/>
            </a:ln>
          </p:spPr>
          <p:txBody>
            <a:bodyPr wrap="square" lIns="0" tIns="0" rIns="0" bIns="0" rtlCol="0">
              <a:prstTxWarp prst="textNoShape">
                <a:avLst/>
              </a:prstTxWarp>
              <a:noAutofit/>
            </a:bodyPr>
            <a:lstStyle/>
            <a:p>
              <a:endParaRPr lang="en-GB"/>
            </a:p>
          </p:txBody>
        </p:sp>
        <p:sp>
          <p:nvSpPr>
            <p:cNvPr id="14" name="Graphic 115">
              <a:extLst>
                <a:ext uri="{FF2B5EF4-FFF2-40B4-BE49-F238E27FC236}">
                  <a16:creationId xmlns:a16="http://schemas.microsoft.com/office/drawing/2014/main" id="{0A44F111-2BBD-BCB9-77F2-1C8FE7B410A7}"/>
                </a:ext>
              </a:extLst>
            </p:cNvPr>
            <p:cNvSpPr/>
            <p:nvPr/>
          </p:nvSpPr>
          <p:spPr>
            <a:xfrm>
              <a:off x="265515" y="172236"/>
              <a:ext cx="1977389" cy="791845"/>
            </a:xfrm>
            <a:custGeom>
              <a:avLst/>
              <a:gdLst/>
              <a:ahLst/>
              <a:cxnLst/>
              <a:rect l="l" t="t" r="r" b="b"/>
              <a:pathLst>
                <a:path w="1977389" h="791845">
                  <a:moveTo>
                    <a:pt x="0" y="791216"/>
                  </a:moveTo>
                  <a:lnTo>
                    <a:pt x="38026" y="456763"/>
                  </a:lnTo>
                  <a:lnTo>
                    <a:pt x="76053" y="412157"/>
                  </a:lnTo>
                  <a:lnTo>
                    <a:pt x="114079" y="268987"/>
                  </a:lnTo>
                  <a:lnTo>
                    <a:pt x="152105" y="347080"/>
                  </a:lnTo>
                  <a:lnTo>
                    <a:pt x="190132" y="362265"/>
                  </a:lnTo>
                  <a:lnTo>
                    <a:pt x="228159" y="234279"/>
                  </a:lnTo>
                  <a:lnTo>
                    <a:pt x="266185" y="234279"/>
                  </a:lnTo>
                  <a:lnTo>
                    <a:pt x="304212" y="169201"/>
                  </a:lnTo>
                  <a:lnTo>
                    <a:pt x="342238" y="197402"/>
                  </a:lnTo>
                  <a:lnTo>
                    <a:pt x="380265" y="162694"/>
                  </a:lnTo>
                  <a:lnTo>
                    <a:pt x="418292" y="201740"/>
                  </a:lnTo>
                  <a:lnTo>
                    <a:pt x="456318" y="119308"/>
                  </a:lnTo>
                  <a:lnTo>
                    <a:pt x="494344" y="104124"/>
                  </a:lnTo>
                  <a:lnTo>
                    <a:pt x="532371" y="145340"/>
                  </a:lnTo>
                  <a:lnTo>
                    <a:pt x="570397" y="143170"/>
                  </a:lnTo>
                  <a:lnTo>
                    <a:pt x="608424" y="138832"/>
                  </a:lnTo>
                  <a:lnTo>
                    <a:pt x="646451" y="184386"/>
                  </a:lnTo>
                  <a:lnTo>
                    <a:pt x="684477" y="195232"/>
                  </a:lnTo>
                  <a:lnTo>
                    <a:pt x="722504" y="180048"/>
                  </a:lnTo>
                  <a:lnTo>
                    <a:pt x="760530" y="184386"/>
                  </a:lnTo>
                  <a:lnTo>
                    <a:pt x="798557" y="236448"/>
                  </a:lnTo>
                  <a:lnTo>
                    <a:pt x="836583" y="190894"/>
                  </a:lnTo>
                  <a:lnTo>
                    <a:pt x="874610" y="245125"/>
                  </a:lnTo>
                  <a:lnTo>
                    <a:pt x="912636" y="160524"/>
                  </a:lnTo>
                  <a:lnTo>
                    <a:pt x="950663" y="147509"/>
                  </a:lnTo>
                  <a:lnTo>
                    <a:pt x="988690" y="143170"/>
                  </a:lnTo>
                  <a:lnTo>
                    <a:pt x="1026716" y="86770"/>
                  </a:lnTo>
                  <a:lnTo>
                    <a:pt x="1064742" y="49892"/>
                  </a:lnTo>
                  <a:lnTo>
                    <a:pt x="1102769" y="32539"/>
                  </a:lnTo>
                  <a:lnTo>
                    <a:pt x="1140795" y="36877"/>
                  </a:lnTo>
                  <a:lnTo>
                    <a:pt x="1178822" y="26030"/>
                  </a:lnTo>
                  <a:lnTo>
                    <a:pt x="1216849" y="26030"/>
                  </a:lnTo>
                  <a:lnTo>
                    <a:pt x="1254875" y="28200"/>
                  </a:lnTo>
                  <a:lnTo>
                    <a:pt x="1292902" y="39046"/>
                  </a:lnTo>
                  <a:lnTo>
                    <a:pt x="1330928" y="39046"/>
                  </a:lnTo>
                  <a:lnTo>
                    <a:pt x="1368955" y="15185"/>
                  </a:lnTo>
                  <a:lnTo>
                    <a:pt x="1406981" y="21692"/>
                  </a:lnTo>
                  <a:lnTo>
                    <a:pt x="1445008" y="15185"/>
                  </a:lnTo>
                  <a:lnTo>
                    <a:pt x="1483034" y="8676"/>
                  </a:lnTo>
                  <a:lnTo>
                    <a:pt x="1521061" y="6508"/>
                  </a:lnTo>
                  <a:lnTo>
                    <a:pt x="1559088" y="10846"/>
                  </a:lnTo>
                  <a:lnTo>
                    <a:pt x="1597114" y="15185"/>
                  </a:lnTo>
                  <a:lnTo>
                    <a:pt x="1635141" y="6508"/>
                  </a:lnTo>
                  <a:lnTo>
                    <a:pt x="1673167" y="4338"/>
                  </a:lnTo>
                  <a:lnTo>
                    <a:pt x="1711193" y="6508"/>
                  </a:lnTo>
                  <a:lnTo>
                    <a:pt x="1749220" y="19523"/>
                  </a:lnTo>
                  <a:lnTo>
                    <a:pt x="1787247" y="17353"/>
                  </a:lnTo>
                  <a:lnTo>
                    <a:pt x="1825273" y="17353"/>
                  </a:lnTo>
                  <a:lnTo>
                    <a:pt x="1863300" y="17353"/>
                  </a:lnTo>
                  <a:lnTo>
                    <a:pt x="1901326" y="21692"/>
                  </a:lnTo>
                  <a:lnTo>
                    <a:pt x="1939353" y="8676"/>
                  </a:lnTo>
                  <a:lnTo>
                    <a:pt x="1977379" y="0"/>
                  </a:lnTo>
                </a:path>
              </a:pathLst>
            </a:custGeom>
            <a:ln w="7106">
              <a:solidFill>
                <a:srgbClr val="FF0000"/>
              </a:solidFill>
              <a:prstDash val="lgDash"/>
            </a:ln>
          </p:spPr>
          <p:txBody>
            <a:bodyPr wrap="square" lIns="0" tIns="0" rIns="0" bIns="0" rtlCol="0">
              <a:prstTxWarp prst="textNoShape">
                <a:avLst/>
              </a:prstTxWarp>
              <a:noAutofit/>
            </a:bodyPr>
            <a:lstStyle/>
            <a:p>
              <a:endParaRPr lang="en-GB"/>
            </a:p>
          </p:txBody>
        </p:sp>
        <p:sp>
          <p:nvSpPr>
            <p:cNvPr id="15" name="Graphic 116">
              <a:extLst>
                <a:ext uri="{FF2B5EF4-FFF2-40B4-BE49-F238E27FC236}">
                  <a16:creationId xmlns:a16="http://schemas.microsoft.com/office/drawing/2014/main" id="{4C33ABAA-9BCD-F28F-4190-FF66D57109C8}"/>
                </a:ext>
              </a:extLst>
            </p:cNvPr>
            <p:cNvSpPr/>
            <p:nvPr/>
          </p:nvSpPr>
          <p:spPr>
            <a:xfrm>
              <a:off x="265515" y="183082"/>
              <a:ext cx="1977389" cy="993140"/>
            </a:xfrm>
            <a:custGeom>
              <a:avLst/>
              <a:gdLst/>
              <a:ahLst/>
              <a:cxnLst/>
              <a:rect l="l" t="t" r="r" b="b"/>
              <a:pathLst>
                <a:path w="1977389" h="993140">
                  <a:moveTo>
                    <a:pt x="0" y="992681"/>
                  </a:moveTo>
                  <a:lnTo>
                    <a:pt x="38026" y="441306"/>
                  </a:lnTo>
                  <a:lnTo>
                    <a:pt x="76053" y="364434"/>
                  </a:lnTo>
                  <a:lnTo>
                    <a:pt x="114079" y="537974"/>
                  </a:lnTo>
                  <a:lnTo>
                    <a:pt x="152105" y="472896"/>
                  </a:lnTo>
                  <a:lnTo>
                    <a:pt x="190132" y="511943"/>
                  </a:lnTo>
                  <a:lnTo>
                    <a:pt x="228159" y="459881"/>
                  </a:lnTo>
                  <a:lnTo>
                    <a:pt x="266185" y="360095"/>
                  </a:lnTo>
                  <a:lnTo>
                    <a:pt x="304212" y="396972"/>
                  </a:lnTo>
                  <a:lnTo>
                    <a:pt x="342238" y="396972"/>
                  </a:lnTo>
                  <a:lnTo>
                    <a:pt x="380265" y="290679"/>
                  </a:lnTo>
                  <a:lnTo>
                    <a:pt x="418292" y="238617"/>
                  </a:lnTo>
                  <a:lnTo>
                    <a:pt x="456318" y="158355"/>
                  </a:lnTo>
                  <a:lnTo>
                    <a:pt x="494344" y="141001"/>
                  </a:lnTo>
                  <a:lnTo>
                    <a:pt x="532371" y="229940"/>
                  </a:lnTo>
                  <a:lnTo>
                    <a:pt x="570397" y="156186"/>
                  </a:lnTo>
                  <a:lnTo>
                    <a:pt x="608424" y="123647"/>
                  </a:lnTo>
                  <a:lnTo>
                    <a:pt x="646451" y="101954"/>
                  </a:lnTo>
                  <a:lnTo>
                    <a:pt x="684477" y="127985"/>
                  </a:lnTo>
                  <a:lnTo>
                    <a:pt x="722504" y="138832"/>
                  </a:lnTo>
                  <a:lnTo>
                    <a:pt x="760530" y="75923"/>
                  </a:lnTo>
                  <a:lnTo>
                    <a:pt x="798557" y="101954"/>
                  </a:lnTo>
                  <a:lnTo>
                    <a:pt x="836583" y="93277"/>
                  </a:lnTo>
                  <a:lnTo>
                    <a:pt x="874610" y="112801"/>
                  </a:lnTo>
                  <a:lnTo>
                    <a:pt x="912636" y="88939"/>
                  </a:lnTo>
                  <a:lnTo>
                    <a:pt x="950663" y="106293"/>
                  </a:lnTo>
                  <a:lnTo>
                    <a:pt x="988690" y="108462"/>
                  </a:lnTo>
                  <a:lnTo>
                    <a:pt x="1026716" y="91108"/>
                  </a:lnTo>
                  <a:lnTo>
                    <a:pt x="1064742" y="97616"/>
                  </a:lnTo>
                  <a:lnTo>
                    <a:pt x="1102769" y="69416"/>
                  </a:lnTo>
                  <a:lnTo>
                    <a:pt x="1140795" y="34707"/>
                  </a:lnTo>
                  <a:lnTo>
                    <a:pt x="1178822" y="32539"/>
                  </a:lnTo>
                  <a:lnTo>
                    <a:pt x="1216849" y="30369"/>
                  </a:lnTo>
                  <a:lnTo>
                    <a:pt x="1254875" y="60739"/>
                  </a:lnTo>
                  <a:lnTo>
                    <a:pt x="1292902" y="26030"/>
                  </a:lnTo>
                  <a:lnTo>
                    <a:pt x="1330928" y="30369"/>
                  </a:lnTo>
                  <a:lnTo>
                    <a:pt x="1368955" y="28200"/>
                  </a:lnTo>
                  <a:lnTo>
                    <a:pt x="1406981" y="23862"/>
                  </a:lnTo>
                  <a:lnTo>
                    <a:pt x="1445008" y="23862"/>
                  </a:lnTo>
                  <a:lnTo>
                    <a:pt x="1483034" y="23862"/>
                  </a:lnTo>
                  <a:lnTo>
                    <a:pt x="1521061" y="28200"/>
                  </a:lnTo>
                  <a:lnTo>
                    <a:pt x="1559088" y="23862"/>
                  </a:lnTo>
                  <a:lnTo>
                    <a:pt x="1597114" y="26030"/>
                  </a:lnTo>
                  <a:lnTo>
                    <a:pt x="1635141" y="23862"/>
                  </a:lnTo>
                  <a:lnTo>
                    <a:pt x="1673167" y="21692"/>
                  </a:lnTo>
                  <a:lnTo>
                    <a:pt x="1711193" y="21692"/>
                  </a:lnTo>
                  <a:lnTo>
                    <a:pt x="1749220" y="21692"/>
                  </a:lnTo>
                  <a:lnTo>
                    <a:pt x="1787247" y="21692"/>
                  </a:lnTo>
                  <a:lnTo>
                    <a:pt x="1825273" y="19523"/>
                  </a:lnTo>
                  <a:lnTo>
                    <a:pt x="1863300" y="13015"/>
                  </a:lnTo>
                  <a:lnTo>
                    <a:pt x="1901326" y="0"/>
                  </a:lnTo>
                  <a:lnTo>
                    <a:pt x="1939353" y="15184"/>
                  </a:lnTo>
                  <a:lnTo>
                    <a:pt x="1977379" y="15184"/>
                  </a:lnTo>
                </a:path>
              </a:pathLst>
            </a:custGeom>
            <a:ln w="7168">
              <a:solidFill>
                <a:srgbClr val="00BFBF"/>
              </a:solidFill>
              <a:prstDash val="lgDash"/>
            </a:ln>
          </p:spPr>
          <p:txBody>
            <a:bodyPr wrap="square" lIns="0" tIns="0" rIns="0" bIns="0" rtlCol="0">
              <a:prstTxWarp prst="textNoShape">
                <a:avLst/>
              </a:prstTxWarp>
              <a:noAutofit/>
            </a:bodyPr>
            <a:lstStyle/>
            <a:p>
              <a:endParaRPr lang="en-GB"/>
            </a:p>
          </p:txBody>
        </p:sp>
        <p:sp>
          <p:nvSpPr>
            <p:cNvPr id="16" name="Graphic 117">
              <a:extLst>
                <a:ext uri="{FF2B5EF4-FFF2-40B4-BE49-F238E27FC236}">
                  <a16:creationId xmlns:a16="http://schemas.microsoft.com/office/drawing/2014/main" id="{9DFFF323-A971-1E46-76B9-22F29E7EBC73}"/>
                </a:ext>
              </a:extLst>
            </p:cNvPr>
            <p:cNvSpPr/>
            <p:nvPr/>
          </p:nvSpPr>
          <p:spPr>
            <a:xfrm>
              <a:off x="265515" y="163559"/>
              <a:ext cx="1977389" cy="1137285"/>
            </a:xfrm>
            <a:custGeom>
              <a:avLst/>
              <a:gdLst/>
              <a:ahLst/>
              <a:cxnLst/>
              <a:rect l="l" t="t" r="r" b="b"/>
              <a:pathLst>
                <a:path w="1977389" h="1137285">
                  <a:moveTo>
                    <a:pt x="0" y="1136662"/>
                  </a:moveTo>
                  <a:lnTo>
                    <a:pt x="38026" y="884919"/>
                  </a:lnTo>
                  <a:lnTo>
                    <a:pt x="76053" y="832992"/>
                  </a:lnTo>
                  <a:lnTo>
                    <a:pt x="114079" y="642098"/>
                  </a:lnTo>
                  <a:lnTo>
                    <a:pt x="152105" y="442527"/>
                  </a:lnTo>
                  <a:lnTo>
                    <a:pt x="190132" y="416496"/>
                  </a:lnTo>
                  <a:lnTo>
                    <a:pt x="228159" y="327557"/>
                  </a:lnTo>
                  <a:lnTo>
                    <a:pt x="266185" y="197402"/>
                  </a:lnTo>
                  <a:lnTo>
                    <a:pt x="304212" y="123647"/>
                  </a:lnTo>
                  <a:lnTo>
                    <a:pt x="342238" y="110631"/>
                  </a:lnTo>
                  <a:lnTo>
                    <a:pt x="380265" y="82431"/>
                  </a:lnTo>
                  <a:lnTo>
                    <a:pt x="418292" y="84600"/>
                  </a:lnTo>
                  <a:lnTo>
                    <a:pt x="456318" y="97616"/>
                  </a:lnTo>
                  <a:lnTo>
                    <a:pt x="494344" y="88939"/>
                  </a:lnTo>
                  <a:lnTo>
                    <a:pt x="532371" y="82431"/>
                  </a:lnTo>
                  <a:lnTo>
                    <a:pt x="570397" y="106293"/>
                  </a:lnTo>
                  <a:lnTo>
                    <a:pt x="608424" y="112801"/>
                  </a:lnTo>
                  <a:lnTo>
                    <a:pt x="646451" y="88939"/>
                  </a:lnTo>
                  <a:lnTo>
                    <a:pt x="684477" y="65077"/>
                  </a:lnTo>
                  <a:lnTo>
                    <a:pt x="722504" y="47723"/>
                  </a:lnTo>
                  <a:lnTo>
                    <a:pt x="760530" y="39046"/>
                  </a:lnTo>
                  <a:lnTo>
                    <a:pt x="798557" y="17353"/>
                  </a:lnTo>
                  <a:lnTo>
                    <a:pt x="836583" y="19523"/>
                  </a:lnTo>
                  <a:lnTo>
                    <a:pt x="874610" y="19523"/>
                  </a:lnTo>
                  <a:lnTo>
                    <a:pt x="912636" y="23862"/>
                  </a:lnTo>
                  <a:lnTo>
                    <a:pt x="950663" y="13015"/>
                  </a:lnTo>
                  <a:lnTo>
                    <a:pt x="988690" y="0"/>
                  </a:lnTo>
                  <a:lnTo>
                    <a:pt x="1026716" y="43385"/>
                  </a:lnTo>
                  <a:lnTo>
                    <a:pt x="1064742" y="43385"/>
                  </a:lnTo>
                  <a:lnTo>
                    <a:pt x="1102769" y="41215"/>
                  </a:lnTo>
                  <a:lnTo>
                    <a:pt x="1140795" y="43385"/>
                  </a:lnTo>
                  <a:lnTo>
                    <a:pt x="1178822" y="43385"/>
                  </a:lnTo>
                  <a:lnTo>
                    <a:pt x="1216849" y="41215"/>
                  </a:lnTo>
                  <a:lnTo>
                    <a:pt x="1254875" y="19523"/>
                  </a:lnTo>
                  <a:lnTo>
                    <a:pt x="1292902" y="26030"/>
                  </a:lnTo>
                  <a:lnTo>
                    <a:pt x="1330928" y="28200"/>
                  </a:lnTo>
                  <a:lnTo>
                    <a:pt x="1368955" y="28200"/>
                  </a:lnTo>
                  <a:lnTo>
                    <a:pt x="1406981" y="39046"/>
                  </a:lnTo>
                  <a:lnTo>
                    <a:pt x="1445008" y="62908"/>
                  </a:lnTo>
                  <a:lnTo>
                    <a:pt x="1483034" y="47723"/>
                  </a:lnTo>
                  <a:lnTo>
                    <a:pt x="1521061" y="39046"/>
                  </a:lnTo>
                  <a:lnTo>
                    <a:pt x="1559088" y="26030"/>
                  </a:lnTo>
                  <a:lnTo>
                    <a:pt x="1597114" y="36877"/>
                  </a:lnTo>
                  <a:lnTo>
                    <a:pt x="1635141" y="36877"/>
                  </a:lnTo>
                  <a:lnTo>
                    <a:pt x="1673167" y="32539"/>
                  </a:lnTo>
                  <a:lnTo>
                    <a:pt x="1711193" y="34707"/>
                  </a:lnTo>
                  <a:lnTo>
                    <a:pt x="1749220" y="32539"/>
                  </a:lnTo>
                  <a:lnTo>
                    <a:pt x="1787247" y="30369"/>
                  </a:lnTo>
                  <a:lnTo>
                    <a:pt x="1825273" y="17353"/>
                  </a:lnTo>
                  <a:lnTo>
                    <a:pt x="1863300" y="34707"/>
                  </a:lnTo>
                  <a:lnTo>
                    <a:pt x="1901326" y="21692"/>
                  </a:lnTo>
                  <a:lnTo>
                    <a:pt x="1939353" y="10846"/>
                  </a:lnTo>
                  <a:lnTo>
                    <a:pt x="1977379" y="15185"/>
                  </a:lnTo>
                </a:path>
              </a:pathLst>
            </a:custGeom>
            <a:ln w="7214">
              <a:solidFill>
                <a:srgbClr val="BF00BF"/>
              </a:solidFill>
              <a:prstDash val="lgDashDot"/>
            </a:ln>
          </p:spPr>
          <p:txBody>
            <a:bodyPr wrap="square" lIns="0" tIns="0" rIns="0" bIns="0" rtlCol="0">
              <a:prstTxWarp prst="textNoShape">
                <a:avLst/>
              </a:prstTxWarp>
              <a:noAutofit/>
            </a:bodyPr>
            <a:lstStyle/>
            <a:p>
              <a:endParaRPr lang="en-GB"/>
            </a:p>
          </p:txBody>
        </p:sp>
        <p:sp>
          <p:nvSpPr>
            <p:cNvPr id="17" name="Graphic 118">
              <a:extLst>
                <a:ext uri="{FF2B5EF4-FFF2-40B4-BE49-F238E27FC236}">
                  <a16:creationId xmlns:a16="http://schemas.microsoft.com/office/drawing/2014/main" id="{18F76FCB-BB8B-0E73-A1A3-17CE38438D6C}"/>
                </a:ext>
              </a:extLst>
            </p:cNvPr>
            <p:cNvSpPr/>
            <p:nvPr/>
          </p:nvSpPr>
          <p:spPr>
            <a:xfrm>
              <a:off x="265515" y="163559"/>
              <a:ext cx="1977389" cy="638810"/>
            </a:xfrm>
            <a:custGeom>
              <a:avLst/>
              <a:gdLst/>
              <a:ahLst/>
              <a:cxnLst/>
              <a:rect l="l" t="t" r="r" b="b"/>
              <a:pathLst>
                <a:path w="1977389" h="638810">
                  <a:moveTo>
                    <a:pt x="0" y="554638"/>
                  </a:moveTo>
                  <a:lnTo>
                    <a:pt x="38026" y="638302"/>
                  </a:lnTo>
                  <a:lnTo>
                    <a:pt x="76053" y="537974"/>
                  </a:lnTo>
                  <a:lnTo>
                    <a:pt x="114079" y="321049"/>
                  </a:lnTo>
                  <a:lnTo>
                    <a:pt x="152105" y="210417"/>
                  </a:lnTo>
                  <a:lnTo>
                    <a:pt x="190132" y="201740"/>
                  </a:lnTo>
                  <a:lnTo>
                    <a:pt x="228159" y="123647"/>
                  </a:lnTo>
                  <a:lnTo>
                    <a:pt x="266185" y="147509"/>
                  </a:lnTo>
                  <a:lnTo>
                    <a:pt x="304212" y="84600"/>
                  </a:lnTo>
                  <a:lnTo>
                    <a:pt x="342238" y="134493"/>
                  </a:lnTo>
                  <a:lnTo>
                    <a:pt x="380265" y="141001"/>
                  </a:lnTo>
                  <a:lnTo>
                    <a:pt x="418292" y="225602"/>
                  </a:lnTo>
                  <a:lnTo>
                    <a:pt x="456318" y="134493"/>
                  </a:lnTo>
                  <a:lnTo>
                    <a:pt x="494344" y="151847"/>
                  </a:lnTo>
                  <a:lnTo>
                    <a:pt x="532371" y="169201"/>
                  </a:lnTo>
                  <a:lnTo>
                    <a:pt x="570397" y="123647"/>
                  </a:lnTo>
                  <a:lnTo>
                    <a:pt x="608424" y="145339"/>
                  </a:lnTo>
                  <a:lnTo>
                    <a:pt x="646451" y="132324"/>
                  </a:lnTo>
                  <a:lnTo>
                    <a:pt x="684477" y="143170"/>
                  </a:lnTo>
                  <a:lnTo>
                    <a:pt x="722504" y="117139"/>
                  </a:lnTo>
                  <a:lnTo>
                    <a:pt x="760530" y="52062"/>
                  </a:lnTo>
                  <a:lnTo>
                    <a:pt x="798557" y="54231"/>
                  </a:lnTo>
                  <a:lnTo>
                    <a:pt x="836583" y="58569"/>
                  </a:lnTo>
                  <a:lnTo>
                    <a:pt x="874610" y="30369"/>
                  </a:lnTo>
                  <a:lnTo>
                    <a:pt x="912636" y="52062"/>
                  </a:lnTo>
                  <a:lnTo>
                    <a:pt x="950663" y="26030"/>
                  </a:lnTo>
                  <a:lnTo>
                    <a:pt x="988690" y="26030"/>
                  </a:lnTo>
                  <a:lnTo>
                    <a:pt x="1026716" y="36877"/>
                  </a:lnTo>
                  <a:lnTo>
                    <a:pt x="1064742" y="39046"/>
                  </a:lnTo>
                  <a:lnTo>
                    <a:pt x="1102769" y="45554"/>
                  </a:lnTo>
                  <a:lnTo>
                    <a:pt x="1140795" y="34707"/>
                  </a:lnTo>
                  <a:lnTo>
                    <a:pt x="1178822" y="32539"/>
                  </a:lnTo>
                  <a:lnTo>
                    <a:pt x="1216849" y="32539"/>
                  </a:lnTo>
                  <a:lnTo>
                    <a:pt x="1254875" y="39046"/>
                  </a:lnTo>
                  <a:lnTo>
                    <a:pt x="1292902" y="34707"/>
                  </a:lnTo>
                  <a:lnTo>
                    <a:pt x="1330928" y="34707"/>
                  </a:lnTo>
                  <a:lnTo>
                    <a:pt x="1368955" y="34707"/>
                  </a:lnTo>
                  <a:lnTo>
                    <a:pt x="1406981" y="34707"/>
                  </a:lnTo>
                  <a:lnTo>
                    <a:pt x="1445008" y="45554"/>
                  </a:lnTo>
                  <a:lnTo>
                    <a:pt x="1483034" y="41215"/>
                  </a:lnTo>
                  <a:lnTo>
                    <a:pt x="1521061" y="41215"/>
                  </a:lnTo>
                  <a:lnTo>
                    <a:pt x="1559088" y="41215"/>
                  </a:lnTo>
                  <a:lnTo>
                    <a:pt x="1597114" y="34707"/>
                  </a:lnTo>
                  <a:lnTo>
                    <a:pt x="1635141" y="34707"/>
                  </a:lnTo>
                  <a:lnTo>
                    <a:pt x="1673167" y="30369"/>
                  </a:lnTo>
                  <a:lnTo>
                    <a:pt x="1711193" y="19523"/>
                  </a:lnTo>
                  <a:lnTo>
                    <a:pt x="1749220" y="2169"/>
                  </a:lnTo>
                  <a:lnTo>
                    <a:pt x="1787247" y="4338"/>
                  </a:lnTo>
                  <a:lnTo>
                    <a:pt x="1825273" y="4338"/>
                  </a:lnTo>
                  <a:lnTo>
                    <a:pt x="1863300" y="2169"/>
                  </a:lnTo>
                  <a:lnTo>
                    <a:pt x="1901326" y="2169"/>
                  </a:lnTo>
                  <a:lnTo>
                    <a:pt x="1939353" y="2169"/>
                  </a:lnTo>
                  <a:lnTo>
                    <a:pt x="1977379" y="0"/>
                  </a:lnTo>
                </a:path>
              </a:pathLst>
            </a:custGeom>
            <a:ln w="7064">
              <a:solidFill>
                <a:srgbClr val="BFBF00"/>
              </a:solidFill>
              <a:prstDash val="lgDashDot"/>
            </a:ln>
          </p:spPr>
          <p:txBody>
            <a:bodyPr wrap="square" lIns="0" tIns="0" rIns="0" bIns="0" rtlCol="0">
              <a:prstTxWarp prst="textNoShape">
                <a:avLst/>
              </a:prstTxWarp>
              <a:noAutofit/>
            </a:bodyPr>
            <a:lstStyle/>
            <a:p>
              <a:endParaRPr lang="en-GB"/>
            </a:p>
          </p:txBody>
        </p:sp>
        <p:sp>
          <p:nvSpPr>
            <p:cNvPr id="18" name="Graphic 119">
              <a:extLst>
                <a:ext uri="{FF2B5EF4-FFF2-40B4-BE49-F238E27FC236}">
                  <a16:creationId xmlns:a16="http://schemas.microsoft.com/office/drawing/2014/main" id="{275DE1A7-A17C-6EC3-9EAC-9B62B1A89635}"/>
                </a:ext>
              </a:extLst>
            </p:cNvPr>
            <p:cNvSpPr/>
            <p:nvPr/>
          </p:nvSpPr>
          <p:spPr>
            <a:xfrm>
              <a:off x="265515" y="163559"/>
              <a:ext cx="1977389" cy="855344"/>
            </a:xfrm>
            <a:custGeom>
              <a:avLst/>
              <a:gdLst/>
              <a:ahLst/>
              <a:cxnLst/>
              <a:rect l="l" t="t" r="r" b="b"/>
              <a:pathLst>
                <a:path w="1977389" h="855344">
                  <a:moveTo>
                    <a:pt x="0" y="854801"/>
                  </a:moveTo>
                  <a:lnTo>
                    <a:pt x="38026" y="728190"/>
                  </a:lnTo>
                  <a:lnTo>
                    <a:pt x="76053" y="511943"/>
                  </a:lnTo>
                  <a:lnTo>
                    <a:pt x="114079" y="483743"/>
                  </a:lnTo>
                  <a:lnTo>
                    <a:pt x="152105" y="368772"/>
                  </a:lnTo>
                  <a:lnTo>
                    <a:pt x="190132" y="416496"/>
                  </a:lnTo>
                  <a:lnTo>
                    <a:pt x="228159" y="310203"/>
                  </a:lnTo>
                  <a:lnTo>
                    <a:pt x="266185" y="262479"/>
                  </a:lnTo>
                  <a:lnTo>
                    <a:pt x="304212" y="299356"/>
                  </a:lnTo>
                  <a:lnTo>
                    <a:pt x="342238" y="242956"/>
                  </a:lnTo>
                  <a:lnTo>
                    <a:pt x="380265" y="212586"/>
                  </a:lnTo>
                  <a:lnTo>
                    <a:pt x="418292" y="164863"/>
                  </a:lnTo>
                  <a:lnTo>
                    <a:pt x="456318" y="164863"/>
                  </a:lnTo>
                  <a:lnTo>
                    <a:pt x="494344" y="186555"/>
                  </a:lnTo>
                  <a:lnTo>
                    <a:pt x="532371" y="177878"/>
                  </a:lnTo>
                  <a:lnTo>
                    <a:pt x="570397" y="160524"/>
                  </a:lnTo>
                  <a:lnTo>
                    <a:pt x="608424" y="175709"/>
                  </a:lnTo>
                  <a:lnTo>
                    <a:pt x="646451" y="171371"/>
                  </a:lnTo>
                  <a:lnTo>
                    <a:pt x="684477" y="143170"/>
                  </a:lnTo>
                  <a:lnTo>
                    <a:pt x="722504" y="164863"/>
                  </a:lnTo>
                  <a:lnTo>
                    <a:pt x="760530" y="134493"/>
                  </a:lnTo>
                  <a:lnTo>
                    <a:pt x="798557" y="101954"/>
                  </a:lnTo>
                  <a:lnTo>
                    <a:pt x="836583" y="80262"/>
                  </a:lnTo>
                  <a:lnTo>
                    <a:pt x="874610" y="82431"/>
                  </a:lnTo>
                  <a:lnTo>
                    <a:pt x="912636" y="97616"/>
                  </a:lnTo>
                  <a:lnTo>
                    <a:pt x="950663" y="84600"/>
                  </a:lnTo>
                  <a:lnTo>
                    <a:pt x="988690" y="65077"/>
                  </a:lnTo>
                  <a:lnTo>
                    <a:pt x="1026716" y="69416"/>
                  </a:lnTo>
                  <a:lnTo>
                    <a:pt x="1064742" y="82431"/>
                  </a:lnTo>
                  <a:lnTo>
                    <a:pt x="1102769" y="73754"/>
                  </a:lnTo>
                  <a:lnTo>
                    <a:pt x="1140795" y="99785"/>
                  </a:lnTo>
                  <a:lnTo>
                    <a:pt x="1178822" y="86770"/>
                  </a:lnTo>
                  <a:lnTo>
                    <a:pt x="1216849" y="58569"/>
                  </a:lnTo>
                  <a:lnTo>
                    <a:pt x="1254875" y="49892"/>
                  </a:lnTo>
                  <a:lnTo>
                    <a:pt x="1292902" y="28200"/>
                  </a:lnTo>
                  <a:lnTo>
                    <a:pt x="1330928" y="60739"/>
                  </a:lnTo>
                  <a:lnTo>
                    <a:pt x="1368955" y="45554"/>
                  </a:lnTo>
                  <a:lnTo>
                    <a:pt x="1406981" y="41215"/>
                  </a:lnTo>
                  <a:lnTo>
                    <a:pt x="1445008" y="56400"/>
                  </a:lnTo>
                  <a:lnTo>
                    <a:pt x="1483034" y="10846"/>
                  </a:lnTo>
                  <a:lnTo>
                    <a:pt x="1521061" y="41215"/>
                  </a:lnTo>
                  <a:lnTo>
                    <a:pt x="1559088" y="2169"/>
                  </a:lnTo>
                  <a:lnTo>
                    <a:pt x="1597114" y="8676"/>
                  </a:lnTo>
                  <a:lnTo>
                    <a:pt x="1635141" y="0"/>
                  </a:lnTo>
                  <a:lnTo>
                    <a:pt x="1673167" y="17353"/>
                  </a:lnTo>
                  <a:lnTo>
                    <a:pt x="1711193" y="19523"/>
                  </a:lnTo>
                  <a:lnTo>
                    <a:pt x="1749220" y="15185"/>
                  </a:lnTo>
                  <a:lnTo>
                    <a:pt x="1787247" y="4338"/>
                  </a:lnTo>
                  <a:lnTo>
                    <a:pt x="1825273" y="21692"/>
                  </a:lnTo>
                  <a:lnTo>
                    <a:pt x="1863300" y="21692"/>
                  </a:lnTo>
                  <a:lnTo>
                    <a:pt x="1901326" y="6508"/>
                  </a:lnTo>
                  <a:lnTo>
                    <a:pt x="1939353" y="6508"/>
                  </a:lnTo>
                  <a:lnTo>
                    <a:pt x="1977379" y="2169"/>
                  </a:lnTo>
                </a:path>
              </a:pathLst>
            </a:custGeom>
            <a:ln w="7125">
              <a:solidFill>
                <a:srgbClr val="000000"/>
              </a:solidFill>
              <a:prstDash val="lgDashDot"/>
            </a:ln>
          </p:spPr>
          <p:txBody>
            <a:bodyPr wrap="square" lIns="0" tIns="0" rIns="0" bIns="0" rtlCol="0">
              <a:prstTxWarp prst="textNoShape">
                <a:avLst/>
              </a:prstTxWarp>
              <a:noAutofit/>
            </a:bodyPr>
            <a:lstStyle/>
            <a:p>
              <a:endParaRPr lang="en-GB"/>
            </a:p>
          </p:txBody>
        </p:sp>
        <p:sp>
          <p:nvSpPr>
            <p:cNvPr id="19" name="Graphic 120">
              <a:extLst>
                <a:ext uri="{FF2B5EF4-FFF2-40B4-BE49-F238E27FC236}">
                  <a16:creationId xmlns:a16="http://schemas.microsoft.com/office/drawing/2014/main" id="{D1185951-5A71-6747-4C6B-108B4A6C3114}"/>
                </a:ext>
              </a:extLst>
            </p:cNvPr>
            <p:cNvSpPr/>
            <p:nvPr/>
          </p:nvSpPr>
          <p:spPr>
            <a:xfrm>
              <a:off x="265515" y="137528"/>
              <a:ext cx="1977389" cy="692150"/>
            </a:xfrm>
            <a:custGeom>
              <a:avLst/>
              <a:gdLst/>
              <a:ahLst/>
              <a:cxnLst/>
              <a:rect l="l" t="t" r="r" b="b"/>
              <a:pathLst>
                <a:path w="1977389" h="692150">
                  <a:moveTo>
                    <a:pt x="0" y="573347"/>
                  </a:moveTo>
                  <a:lnTo>
                    <a:pt x="38026" y="691991"/>
                  </a:lnTo>
                  <a:lnTo>
                    <a:pt x="76053" y="370941"/>
                  </a:lnTo>
                  <a:lnTo>
                    <a:pt x="114079" y="232109"/>
                  </a:lnTo>
                  <a:lnTo>
                    <a:pt x="152105" y="193063"/>
                  </a:lnTo>
                  <a:lnTo>
                    <a:pt x="190132" y="193063"/>
                  </a:lnTo>
                  <a:lnTo>
                    <a:pt x="228159" y="323218"/>
                  </a:lnTo>
                  <a:lnTo>
                    <a:pt x="266185" y="292848"/>
                  </a:lnTo>
                  <a:lnTo>
                    <a:pt x="304212" y="240786"/>
                  </a:lnTo>
                  <a:lnTo>
                    <a:pt x="342238" y="234279"/>
                  </a:lnTo>
                  <a:lnTo>
                    <a:pt x="380265" y="193063"/>
                  </a:lnTo>
                  <a:lnTo>
                    <a:pt x="418292" y="143170"/>
                  </a:lnTo>
                  <a:lnTo>
                    <a:pt x="456318" y="101954"/>
                  </a:lnTo>
                  <a:lnTo>
                    <a:pt x="494344" y="127985"/>
                  </a:lnTo>
                  <a:lnTo>
                    <a:pt x="532371" y="97616"/>
                  </a:lnTo>
                  <a:lnTo>
                    <a:pt x="570397" y="97616"/>
                  </a:lnTo>
                  <a:lnTo>
                    <a:pt x="608424" y="110631"/>
                  </a:lnTo>
                  <a:lnTo>
                    <a:pt x="646451" y="84600"/>
                  </a:lnTo>
                  <a:lnTo>
                    <a:pt x="684477" y="82431"/>
                  </a:lnTo>
                  <a:lnTo>
                    <a:pt x="722504" y="82431"/>
                  </a:lnTo>
                  <a:lnTo>
                    <a:pt x="760530" y="54231"/>
                  </a:lnTo>
                  <a:lnTo>
                    <a:pt x="798557" y="47723"/>
                  </a:lnTo>
                  <a:lnTo>
                    <a:pt x="836583" y="45554"/>
                  </a:lnTo>
                  <a:lnTo>
                    <a:pt x="874610" y="60738"/>
                  </a:lnTo>
                  <a:lnTo>
                    <a:pt x="912636" y="60738"/>
                  </a:lnTo>
                  <a:lnTo>
                    <a:pt x="950663" y="60738"/>
                  </a:lnTo>
                  <a:lnTo>
                    <a:pt x="988690" y="60738"/>
                  </a:lnTo>
                  <a:lnTo>
                    <a:pt x="1026716" y="58569"/>
                  </a:lnTo>
                  <a:lnTo>
                    <a:pt x="1064742" y="62908"/>
                  </a:lnTo>
                  <a:lnTo>
                    <a:pt x="1102769" y="69416"/>
                  </a:lnTo>
                  <a:lnTo>
                    <a:pt x="1140795" y="75923"/>
                  </a:lnTo>
                  <a:lnTo>
                    <a:pt x="1178822" y="43384"/>
                  </a:lnTo>
                  <a:lnTo>
                    <a:pt x="1216849" y="67246"/>
                  </a:lnTo>
                  <a:lnTo>
                    <a:pt x="1254875" y="56400"/>
                  </a:lnTo>
                  <a:lnTo>
                    <a:pt x="1292902" y="34707"/>
                  </a:lnTo>
                  <a:lnTo>
                    <a:pt x="1330928" y="28200"/>
                  </a:lnTo>
                  <a:lnTo>
                    <a:pt x="1368955" y="13015"/>
                  </a:lnTo>
                  <a:lnTo>
                    <a:pt x="1406981" y="30369"/>
                  </a:lnTo>
                  <a:lnTo>
                    <a:pt x="1445008" y="32539"/>
                  </a:lnTo>
                  <a:lnTo>
                    <a:pt x="1483034" y="21692"/>
                  </a:lnTo>
                  <a:lnTo>
                    <a:pt x="1521061" y="30369"/>
                  </a:lnTo>
                  <a:lnTo>
                    <a:pt x="1559088" y="34707"/>
                  </a:lnTo>
                  <a:lnTo>
                    <a:pt x="1597114" y="30369"/>
                  </a:lnTo>
                  <a:lnTo>
                    <a:pt x="1635141" y="4338"/>
                  </a:lnTo>
                  <a:lnTo>
                    <a:pt x="1673167" y="0"/>
                  </a:lnTo>
                  <a:lnTo>
                    <a:pt x="1711193" y="26030"/>
                  </a:lnTo>
                  <a:lnTo>
                    <a:pt x="1749220" y="45554"/>
                  </a:lnTo>
                  <a:lnTo>
                    <a:pt x="1787247" y="15184"/>
                  </a:lnTo>
                  <a:lnTo>
                    <a:pt x="1825273" y="19523"/>
                  </a:lnTo>
                  <a:lnTo>
                    <a:pt x="1863300" y="8676"/>
                  </a:lnTo>
                  <a:lnTo>
                    <a:pt x="1901326" y="8676"/>
                  </a:lnTo>
                  <a:lnTo>
                    <a:pt x="1939353" y="8676"/>
                  </a:lnTo>
                  <a:lnTo>
                    <a:pt x="1977379" y="6507"/>
                  </a:lnTo>
                </a:path>
              </a:pathLst>
            </a:custGeom>
            <a:ln w="7078">
              <a:solidFill>
                <a:srgbClr val="0000FF"/>
              </a:solidFill>
              <a:prstDash val="lgDashDot"/>
            </a:ln>
          </p:spPr>
          <p:txBody>
            <a:bodyPr wrap="square" lIns="0" tIns="0" rIns="0" bIns="0" rtlCol="0">
              <a:prstTxWarp prst="textNoShape">
                <a:avLst/>
              </a:prstTxWarp>
              <a:noAutofit/>
            </a:bodyPr>
            <a:lstStyle/>
            <a:p>
              <a:endParaRPr lang="en-GB"/>
            </a:p>
          </p:txBody>
        </p:sp>
        <p:sp>
          <p:nvSpPr>
            <p:cNvPr id="20" name="Graphic 121">
              <a:extLst>
                <a:ext uri="{FF2B5EF4-FFF2-40B4-BE49-F238E27FC236}">
                  <a16:creationId xmlns:a16="http://schemas.microsoft.com/office/drawing/2014/main" id="{39ED2AC8-97AC-1980-4096-3C6D5789994D}"/>
                </a:ext>
              </a:extLst>
            </p:cNvPr>
            <p:cNvSpPr/>
            <p:nvPr/>
          </p:nvSpPr>
          <p:spPr>
            <a:xfrm>
              <a:off x="265515" y="159221"/>
              <a:ext cx="1977389" cy="962025"/>
            </a:xfrm>
            <a:custGeom>
              <a:avLst/>
              <a:gdLst/>
              <a:ahLst/>
              <a:cxnLst/>
              <a:rect l="l" t="t" r="r" b="b"/>
              <a:pathLst>
                <a:path w="1977389" h="962025">
                  <a:moveTo>
                    <a:pt x="0" y="961634"/>
                  </a:moveTo>
                  <a:lnTo>
                    <a:pt x="38026" y="236990"/>
                  </a:lnTo>
                  <a:lnTo>
                    <a:pt x="76053" y="138832"/>
                  </a:lnTo>
                  <a:lnTo>
                    <a:pt x="114079" y="65077"/>
                  </a:lnTo>
                  <a:lnTo>
                    <a:pt x="152105" y="151847"/>
                  </a:lnTo>
                  <a:lnTo>
                    <a:pt x="190132" y="173539"/>
                  </a:lnTo>
                  <a:lnTo>
                    <a:pt x="228159" y="143170"/>
                  </a:lnTo>
                  <a:lnTo>
                    <a:pt x="266185" y="182216"/>
                  </a:lnTo>
                  <a:lnTo>
                    <a:pt x="304212" y="65077"/>
                  </a:lnTo>
                  <a:lnTo>
                    <a:pt x="342238" y="41215"/>
                  </a:lnTo>
                  <a:lnTo>
                    <a:pt x="380265" y="36877"/>
                  </a:lnTo>
                  <a:lnTo>
                    <a:pt x="418292" y="56400"/>
                  </a:lnTo>
                  <a:lnTo>
                    <a:pt x="456318" y="43384"/>
                  </a:lnTo>
                  <a:lnTo>
                    <a:pt x="494344" y="43384"/>
                  </a:lnTo>
                  <a:lnTo>
                    <a:pt x="532371" y="52061"/>
                  </a:lnTo>
                  <a:lnTo>
                    <a:pt x="570397" y="49892"/>
                  </a:lnTo>
                  <a:lnTo>
                    <a:pt x="608424" y="26030"/>
                  </a:lnTo>
                  <a:lnTo>
                    <a:pt x="646451" y="17353"/>
                  </a:lnTo>
                  <a:lnTo>
                    <a:pt x="684477" y="13015"/>
                  </a:lnTo>
                  <a:lnTo>
                    <a:pt x="722504" y="23861"/>
                  </a:lnTo>
                  <a:lnTo>
                    <a:pt x="760530" y="21692"/>
                  </a:lnTo>
                  <a:lnTo>
                    <a:pt x="798557" y="15184"/>
                  </a:lnTo>
                  <a:lnTo>
                    <a:pt x="836583" y="17353"/>
                  </a:lnTo>
                  <a:lnTo>
                    <a:pt x="874610" y="17353"/>
                  </a:lnTo>
                  <a:lnTo>
                    <a:pt x="912636" y="13015"/>
                  </a:lnTo>
                  <a:lnTo>
                    <a:pt x="950663" y="8676"/>
                  </a:lnTo>
                  <a:lnTo>
                    <a:pt x="988690" y="6507"/>
                  </a:lnTo>
                  <a:lnTo>
                    <a:pt x="1026716" y="4338"/>
                  </a:lnTo>
                  <a:lnTo>
                    <a:pt x="1064742" y="0"/>
                  </a:lnTo>
                  <a:lnTo>
                    <a:pt x="1102769" y="6507"/>
                  </a:lnTo>
                  <a:lnTo>
                    <a:pt x="1140795" y="6507"/>
                  </a:lnTo>
                  <a:lnTo>
                    <a:pt x="1178822" y="19523"/>
                  </a:lnTo>
                  <a:lnTo>
                    <a:pt x="1216849" y="23861"/>
                  </a:lnTo>
                  <a:lnTo>
                    <a:pt x="1254875" y="13015"/>
                  </a:lnTo>
                  <a:lnTo>
                    <a:pt x="1292902" y="19523"/>
                  </a:lnTo>
                  <a:lnTo>
                    <a:pt x="1330928" y="19523"/>
                  </a:lnTo>
                  <a:lnTo>
                    <a:pt x="1368955" y="21692"/>
                  </a:lnTo>
                  <a:lnTo>
                    <a:pt x="1406981" y="21692"/>
                  </a:lnTo>
                  <a:lnTo>
                    <a:pt x="1445008" y="19523"/>
                  </a:lnTo>
                  <a:lnTo>
                    <a:pt x="1483034" y="19523"/>
                  </a:lnTo>
                  <a:lnTo>
                    <a:pt x="1521061" y="19523"/>
                  </a:lnTo>
                  <a:lnTo>
                    <a:pt x="1559088" y="17353"/>
                  </a:lnTo>
                  <a:lnTo>
                    <a:pt x="1597114" y="10846"/>
                  </a:lnTo>
                  <a:lnTo>
                    <a:pt x="1635141" y="10846"/>
                  </a:lnTo>
                  <a:lnTo>
                    <a:pt x="1673167" y="6507"/>
                  </a:lnTo>
                  <a:lnTo>
                    <a:pt x="1711193" y="4338"/>
                  </a:lnTo>
                  <a:lnTo>
                    <a:pt x="1749220" y="4338"/>
                  </a:lnTo>
                  <a:lnTo>
                    <a:pt x="1787247" y="4338"/>
                  </a:lnTo>
                  <a:lnTo>
                    <a:pt x="1825273" y="2168"/>
                  </a:lnTo>
                  <a:lnTo>
                    <a:pt x="1863300" y="2168"/>
                  </a:lnTo>
                  <a:lnTo>
                    <a:pt x="1901326" y="2168"/>
                  </a:lnTo>
                  <a:lnTo>
                    <a:pt x="1939353" y="2168"/>
                  </a:lnTo>
                  <a:lnTo>
                    <a:pt x="1977379" y="6507"/>
                  </a:lnTo>
                </a:path>
              </a:pathLst>
            </a:custGeom>
            <a:ln w="7158">
              <a:solidFill>
                <a:srgbClr val="007F00"/>
              </a:solidFill>
              <a:prstDash val="lgDashDot"/>
            </a:ln>
          </p:spPr>
          <p:txBody>
            <a:bodyPr wrap="square" lIns="0" tIns="0" rIns="0" bIns="0" rtlCol="0">
              <a:prstTxWarp prst="textNoShape">
                <a:avLst/>
              </a:prstTxWarp>
              <a:noAutofit/>
            </a:bodyPr>
            <a:lstStyle/>
            <a:p>
              <a:endParaRPr lang="en-GB"/>
            </a:p>
          </p:txBody>
        </p:sp>
        <p:sp>
          <p:nvSpPr>
            <p:cNvPr id="21" name="Graphic 122">
              <a:extLst>
                <a:ext uri="{FF2B5EF4-FFF2-40B4-BE49-F238E27FC236}">
                  <a16:creationId xmlns:a16="http://schemas.microsoft.com/office/drawing/2014/main" id="{0F5D4EA9-94B1-BD85-25A6-7AF027194ECE}"/>
                </a:ext>
              </a:extLst>
            </p:cNvPr>
            <p:cNvSpPr/>
            <p:nvPr/>
          </p:nvSpPr>
          <p:spPr>
            <a:xfrm>
              <a:off x="265515" y="159221"/>
              <a:ext cx="1977389" cy="855980"/>
            </a:xfrm>
            <a:custGeom>
              <a:avLst/>
              <a:gdLst/>
              <a:ahLst/>
              <a:cxnLst/>
              <a:rect l="l" t="t" r="r" b="b"/>
              <a:pathLst>
                <a:path w="1977389" h="855980">
                  <a:moveTo>
                    <a:pt x="0" y="855479"/>
                  </a:moveTo>
                  <a:lnTo>
                    <a:pt x="38026" y="313049"/>
                  </a:lnTo>
                  <a:lnTo>
                    <a:pt x="76053" y="240786"/>
                  </a:lnTo>
                  <a:lnTo>
                    <a:pt x="114079" y="240786"/>
                  </a:lnTo>
                  <a:lnTo>
                    <a:pt x="152105" y="145339"/>
                  </a:lnTo>
                  <a:lnTo>
                    <a:pt x="190132" y="138832"/>
                  </a:lnTo>
                  <a:lnTo>
                    <a:pt x="228159" y="106293"/>
                  </a:lnTo>
                  <a:lnTo>
                    <a:pt x="266185" y="141000"/>
                  </a:lnTo>
                  <a:lnTo>
                    <a:pt x="304212" y="147509"/>
                  </a:lnTo>
                  <a:lnTo>
                    <a:pt x="342238" y="97616"/>
                  </a:lnTo>
                  <a:lnTo>
                    <a:pt x="380265" y="52061"/>
                  </a:lnTo>
                  <a:lnTo>
                    <a:pt x="418292" y="67246"/>
                  </a:lnTo>
                  <a:lnTo>
                    <a:pt x="456318" y="86769"/>
                  </a:lnTo>
                  <a:lnTo>
                    <a:pt x="494344" y="65077"/>
                  </a:lnTo>
                  <a:lnTo>
                    <a:pt x="532371" y="52061"/>
                  </a:lnTo>
                  <a:lnTo>
                    <a:pt x="570397" y="47723"/>
                  </a:lnTo>
                  <a:lnTo>
                    <a:pt x="608424" y="28200"/>
                  </a:lnTo>
                  <a:lnTo>
                    <a:pt x="646451" y="17353"/>
                  </a:lnTo>
                  <a:lnTo>
                    <a:pt x="684477" y="23861"/>
                  </a:lnTo>
                  <a:lnTo>
                    <a:pt x="722504" y="36877"/>
                  </a:lnTo>
                  <a:lnTo>
                    <a:pt x="760530" y="26030"/>
                  </a:lnTo>
                  <a:lnTo>
                    <a:pt x="798557" y="23861"/>
                  </a:lnTo>
                  <a:lnTo>
                    <a:pt x="836583" y="26030"/>
                  </a:lnTo>
                  <a:lnTo>
                    <a:pt x="874610" y="36877"/>
                  </a:lnTo>
                  <a:lnTo>
                    <a:pt x="912636" y="34707"/>
                  </a:lnTo>
                  <a:lnTo>
                    <a:pt x="950663" y="36877"/>
                  </a:lnTo>
                  <a:lnTo>
                    <a:pt x="988690" y="47723"/>
                  </a:lnTo>
                  <a:lnTo>
                    <a:pt x="1026716" y="45554"/>
                  </a:lnTo>
                  <a:lnTo>
                    <a:pt x="1064742" y="56400"/>
                  </a:lnTo>
                  <a:lnTo>
                    <a:pt x="1102769" y="60738"/>
                  </a:lnTo>
                  <a:lnTo>
                    <a:pt x="1140795" y="58569"/>
                  </a:lnTo>
                  <a:lnTo>
                    <a:pt x="1178822" y="54231"/>
                  </a:lnTo>
                  <a:lnTo>
                    <a:pt x="1216849" y="58569"/>
                  </a:lnTo>
                  <a:lnTo>
                    <a:pt x="1254875" y="26030"/>
                  </a:lnTo>
                  <a:lnTo>
                    <a:pt x="1292902" y="30369"/>
                  </a:lnTo>
                  <a:lnTo>
                    <a:pt x="1330928" y="32538"/>
                  </a:lnTo>
                  <a:lnTo>
                    <a:pt x="1368955" y="28200"/>
                  </a:lnTo>
                  <a:lnTo>
                    <a:pt x="1406981" y="28200"/>
                  </a:lnTo>
                  <a:lnTo>
                    <a:pt x="1445008" y="13015"/>
                  </a:lnTo>
                  <a:lnTo>
                    <a:pt x="1483034" y="17353"/>
                  </a:lnTo>
                  <a:lnTo>
                    <a:pt x="1521061" y="8676"/>
                  </a:lnTo>
                  <a:lnTo>
                    <a:pt x="1559088" y="2168"/>
                  </a:lnTo>
                  <a:lnTo>
                    <a:pt x="1597114" y="2168"/>
                  </a:lnTo>
                  <a:lnTo>
                    <a:pt x="1635141" y="0"/>
                  </a:lnTo>
                  <a:lnTo>
                    <a:pt x="1673167" y="4338"/>
                  </a:lnTo>
                  <a:lnTo>
                    <a:pt x="1711193" y="4338"/>
                  </a:lnTo>
                  <a:lnTo>
                    <a:pt x="1749220" y="21692"/>
                  </a:lnTo>
                  <a:lnTo>
                    <a:pt x="1787247" y="21692"/>
                  </a:lnTo>
                  <a:lnTo>
                    <a:pt x="1825273" y="13015"/>
                  </a:lnTo>
                  <a:lnTo>
                    <a:pt x="1863300" y="6507"/>
                  </a:lnTo>
                  <a:lnTo>
                    <a:pt x="1901326" y="2168"/>
                  </a:lnTo>
                  <a:lnTo>
                    <a:pt x="1939353" y="4338"/>
                  </a:lnTo>
                  <a:lnTo>
                    <a:pt x="1977379" y="8676"/>
                  </a:lnTo>
                </a:path>
              </a:pathLst>
            </a:custGeom>
            <a:ln w="7125">
              <a:solidFill>
                <a:srgbClr val="FF0000"/>
              </a:solidFill>
              <a:prstDash val="solid"/>
            </a:ln>
          </p:spPr>
          <p:txBody>
            <a:bodyPr wrap="square" lIns="0" tIns="0" rIns="0" bIns="0" rtlCol="0">
              <a:prstTxWarp prst="textNoShape">
                <a:avLst/>
              </a:prstTxWarp>
              <a:noAutofit/>
            </a:bodyPr>
            <a:lstStyle/>
            <a:p>
              <a:endParaRPr lang="en-GB"/>
            </a:p>
          </p:txBody>
        </p:sp>
        <p:sp>
          <p:nvSpPr>
            <p:cNvPr id="22" name="Graphic 123">
              <a:extLst>
                <a:ext uri="{FF2B5EF4-FFF2-40B4-BE49-F238E27FC236}">
                  <a16:creationId xmlns:a16="http://schemas.microsoft.com/office/drawing/2014/main" id="{EB1A557A-8D9D-38AA-4555-3A5B78C4EA1B}"/>
                </a:ext>
              </a:extLst>
            </p:cNvPr>
            <p:cNvSpPr/>
            <p:nvPr/>
          </p:nvSpPr>
          <p:spPr>
            <a:xfrm>
              <a:off x="227488" y="70282"/>
              <a:ext cx="2015489" cy="1289050"/>
            </a:xfrm>
            <a:custGeom>
              <a:avLst/>
              <a:gdLst/>
              <a:ahLst/>
              <a:cxnLst/>
              <a:rect l="l" t="t" r="r" b="b"/>
              <a:pathLst>
                <a:path w="2015489" h="1289050">
                  <a:moveTo>
                    <a:pt x="2015406" y="1288507"/>
                  </a:moveTo>
                  <a:lnTo>
                    <a:pt x="2015406" y="0"/>
                  </a:lnTo>
                </a:path>
                <a:path w="2015489" h="1289050">
                  <a:moveTo>
                    <a:pt x="0" y="1288507"/>
                  </a:moveTo>
                  <a:lnTo>
                    <a:pt x="2015406" y="1288507"/>
                  </a:lnTo>
                </a:path>
                <a:path w="2015489" h="1289050">
                  <a:moveTo>
                    <a:pt x="0" y="0"/>
                  </a:moveTo>
                  <a:lnTo>
                    <a:pt x="2015406" y="0"/>
                  </a:lnTo>
                </a:path>
              </a:pathLst>
            </a:custGeom>
            <a:ln w="3978">
              <a:solidFill>
                <a:srgbClr val="000000"/>
              </a:solidFill>
              <a:prstDash val="solid"/>
            </a:ln>
          </p:spPr>
          <p:txBody>
            <a:bodyPr wrap="square" lIns="0" tIns="0" rIns="0" bIns="0" rtlCol="0">
              <a:prstTxWarp prst="textNoShape">
                <a:avLst/>
              </a:prstTxWarp>
              <a:noAutofit/>
            </a:bodyPr>
            <a:lstStyle/>
            <a:p>
              <a:endParaRPr lang="en-GB"/>
            </a:p>
          </p:txBody>
        </p:sp>
        <p:pic>
          <p:nvPicPr>
            <p:cNvPr id="23" name="Image 124">
              <a:extLst>
                <a:ext uri="{FF2B5EF4-FFF2-40B4-BE49-F238E27FC236}">
                  <a16:creationId xmlns:a16="http://schemas.microsoft.com/office/drawing/2014/main" id="{09F8E079-E2B7-B356-9843-540BD3847EAF}"/>
                </a:ext>
              </a:extLst>
            </p:cNvPr>
            <p:cNvPicPr/>
            <p:nvPr/>
          </p:nvPicPr>
          <p:blipFill>
            <a:blip r:embed="rId8" cstate="print"/>
            <a:stretch>
              <a:fillRect/>
            </a:stretch>
          </p:blipFill>
          <p:spPr>
            <a:xfrm>
              <a:off x="736227" y="0"/>
              <a:ext cx="1002346" cy="43117"/>
            </a:xfrm>
            <a:prstGeom prst="rect">
              <a:avLst/>
            </a:prstGeom>
          </p:spPr>
        </p:pic>
        <p:pic>
          <p:nvPicPr>
            <p:cNvPr id="24" name="Image 125">
              <a:extLst>
                <a:ext uri="{FF2B5EF4-FFF2-40B4-BE49-F238E27FC236}">
                  <a16:creationId xmlns:a16="http://schemas.microsoft.com/office/drawing/2014/main" id="{A5969696-FCAE-D634-62DD-7C032B991983}"/>
                </a:ext>
              </a:extLst>
            </p:cNvPr>
            <p:cNvPicPr/>
            <p:nvPr/>
          </p:nvPicPr>
          <p:blipFill>
            <a:blip r:embed="rId9" cstate="print"/>
            <a:stretch>
              <a:fillRect/>
            </a:stretch>
          </p:blipFill>
          <p:spPr>
            <a:xfrm>
              <a:off x="897931" y="626740"/>
              <a:ext cx="1320889" cy="711220"/>
            </a:xfrm>
            <a:prstGeom prst="rect">
              <a:avLst/>
            </a:prstGeom>
          </p:spPr>
        </p:pic>
      </p:grpSp>
      <p:grpSp>
        <p:nvGrpSpPr>
          <p:cNvPr id="25" name="Group 24">
            <a:extLst>
              <a:ext uri="{FF2B5EF4-FFF2-40B4-BE49-F238E27FC236}">
                <a16:creationId xmlns:a16="http://schemas.microsoft.com/office/drawing/2014/main" id="{7B54563C-EB24-8C9C-6C67-0FE997744B8F}"/>
              </a:ext>
            </a:extLst>
          </p:cNvPr>
          <p:cNvGrpSpPr>
            <a:grpSpLocks/>
          </p:cNvGrpSpPr>
          <p:nvPr/>
        </p:nvGrpSpPr>
        <p:grpSpPr>
          <a:xfrm>
            <a:off x="6253216" y="2115393"/>
            <a:ext cx="5040000" cy="3240000"/>
            <a:chOff x="0" y="0"/>
            <a:chExt cx="2195929" cy="1499798"/>
          </a:xfrm>
        </p:grpSpPr>
        <p:pic>
          <p:nvPicPr>
            <p:cNvPr id="26" name="Image 127">
              <a:extLst>
                <a:ext uri="{FF2B5EF4-FFF2-40B4-BE49-F238E27FC236}">
                  <a16:creationId xmlns:a16="http://schemas.microsoft.com/office/drawing/2014/main" id="{66A74C1B-9634-9909-E308-E19F2728AFD0}"/>
                </a:ext>
              </a:extLst>
            </p:cNvPr>
            <p:cNvPicPr/>
            <p:nvPr/>
          </p:nvPicPr>
          <p:blipFill>
            <a:blip r:embed="rId10" cstate="print"/>
            <a:stretch>
              <a:fillRect/>
            </a:stretch>
          </p:blipFill>
          <p:spPr>
            <a:xfrm>
              <a:off x="542184" y="1358790"/>
              <a:ext cx="108966" cy="68440"/>
            </a:xfrm>
            <a:prstGeom prst="rect">
              <a:avLst/>
            </a:prstGeom>
          </p:spPr>
        </p:pic>
        <p:pic>
          <p:nvPicPr>
            <p:cNvPr id="27" name="Image 128">
              <a:extLst>
                <a:ext uri="{FF2B5EF4-FFF2-40B4-BE49-F238E27FC236}">
                  <a16:creationId xmlns:a16="http://schemas.microsoft.com/office/drawing/2014/main" id="{D79066CD-E668-A5EB-8CE0-84F1AB7340B5}"/>
                </a:ext>
              </a:extLst>
            </p:cNvPr>
            <p:cNvPicPr/>
            <p:nvPr/>
          </p:nvPicPr>
          <p:blipFill>
            <a:blip r:embed="rId11" cstate="print"/>
            <a:stretch>
              <a:fillRect/>
            </a:stretch>
          </p:blipFill>
          <p:spPr>
            <a:xfrm>
              <a:off x="1679749" y="1358790"/>
              <a:ext cx="112198" cy="68440"/>
            </a:xfrm>
            <a:prstGeom prst="rect">
              <a:avLst/>
            </a:prstGeom>
          </p:spPr>
        </p:pic>
        <p:pic>
          <p:nvPicPr>
            <p:cNvPr id="28" name="Image 129">
              <a:extLst>
                <a:ext uri="{FF2B5EF4-FFF2-40B4-BE49-F238E27FC236}">
                  <a16:creationId xmlns:a16="http://schemas.microsoft.com/office/drawing/2014/main" id="{C103399B-3BFF-36FB-C8AE-A67952D60040}"/>
                </a:ext>
              </a:extLst>
            </p:cNvPr>
            <p:cNvPicPr/>
            <p:nvPr/>
          </p:nvPicPr>
          <p:blipFill>
            <a:blip r:embed="rId12" cstate="print"/>
            <a:stretch>
              <a:fillRect/>
            </a:stretch>
          </p:blipFill>
          <p:spPr>
            <a:xfrm>
              <a:off x="920489" y="1358790"/>
              <a:ext cx="491192" cy="141008"/>
            </a:xfrm>
            <a:prstGeom prst="rect">
              <a:avLst/>
            </a:prstGeom>
          </p:spPr>
        </p:pic>
        <p:pic>
          <p:nvPicPr>
            <p:cNvPr id="29" name="Image 130">
              <a:extLst>
                <a:ext uri="{FF2B5EF4-FFF2-40B4-BE49-F238E27FC236}">
                  <a16:creationId xmlns:a16="http://schemas.microsoft.com/office/drawing/2014/main" id="{2DFD76D9-D3C9-8774-D628-660655E8F807}"/>
                </a:ext>
              </a:extLst>
            </p:cNvPr>
            <p:cNvPicPr/>
            <p:nvPr/>
          </p:nvPicPr>
          <p:blipFill>
            <a:blip r:embed="rId13" cstate="print"/>
            <a:stretch>
              <a:fillRect/>
            </a:stretch>
          </p:blipFill>
          <p:spPr>
            <a:xfrm>
              <a:off x="2061497" y="1358790"/>
              <a:ext cx="110715" cy="68440"/>
            </a:xfrm>
            <a:prstGeom prst="rect">
              <a:avLst/>
            </a:prstGeom>
          </p:spPr>
        </p:pic>
        <p:pic>
          <p:nvPicPr>
            <p:cNvPr id="30" name="Image 131">
              <a:extLst>
                <a:ext uri="{FF2B5EF4-FFF2-40B4-BE49-F238E27FC236}">
                  <a16:creationId xmlns:a16="http://schemas.microsoft.com/office/drawing/2014/main" id="{33843C3B-C945-DD1C-D0B9-FBBAD9FE2AB0}"/>
                </a:ext>
              </a:extLst>
            </p:cNvPr>
            <p:cNvPicPr/>
            <p:nvPr/>
          </p:nvPicPr>
          <p:blipFill>
            <a:blip r:embed="rId14" cstate="print"/>
            <a:stretch>
              <a:fillRect/>
            </a:stretch>
          </p:blipFill>
          <p:spPr>
            <a:xfrm>
              <a:off x="0" y="69318"/>
              <a:ext cx="2195929" cy="1357912"/>
            </a:xfrm>
            <a:prstGeom prst="rect">
              <a:avLst/>
            </a:prstGeom>
          </p:spPr>
        </p:pic>
        <p:sp>
          <p:nvSpPr>
            <p:cNvPr id="31" name="Graphic 132">
              <a:extLst>
                <a:ext uri="{FF2B5EF4-FFF2-40B4-BE49-F238E27FC236}">
                  <a16:creationId xmlns:a16="http://schemas.microsoft.com/office/drawing/2014/main" id="{CA6194C7-5A58-3740-2025-B2D5C958AE2C}"/>
                </a:ext>
              </a:extLst>
            </p:cNvPr>
            <p:cNvSpPr/>
            <p:nvPr/>
          </p:nvSpPr>
          <p:spPr>
            <a:xfrm>
              <a:off x="176915" y="70282"/>
              <a:ext cx="2015489" cy="1289050"/>
            </a:xfrm>
            <a:custGeom>
              <a:avLst/>
              <a:gdLst/>
              <a:ahLst/>
              <a:cxnLst/>
              <a:rect l="l" t="t" r="r" b="b"/>
              <a:pathLst>
                <a:path w="2015489" h="1289050">
                  <a:moveTo>
                    <a:pt x="0" y="1288507"/>
                  </a:moveTo>
                  <a:lnTo>
                    <a:pt x="2015406" y="1288507"/>
                  </a:lnTo>
                </a:path>
                <a:path w="2015489" h="1289050">
                  <a:moveTo>
                    <a:pt x="0" y="0"/>
                  </a:moveTo>
                  <a:lnTo>
                    <a:pt x="2015406" y="0"/>
                  </a:lnTo>
                </a:path>
              </a:pathLst>
            </a:custGeom>
            <a:ln w="3978">
              <a:solidFill>
                <a:srgbClr val="000000"/>
              </a:solidFill>
              <a:prstDash val="solid"/>
            </a:ln>
          </p:spPr>
          <p:txBody>
            <a:bodyPr wrap="square" lIns="0" tIns="0" rIns="0" bIns="0" rtlCol="0">
              <a:prstTxWarp prst="textNoShape">
                <a:avLst/>
              </a:prstTxWarp>
              <a:noAutofit/>
            </a:bodyPr>
            <a:lstStyle/>
            <a:p>
              <a:endParaRPr lang="en-GB"/>
            </a:p>
          </p:txBody>
        </p:sp>
        <p:pic>
          <p:nvPicPr>
            <p:cNvPr id="32" name="Image 133">
              <a:extLst>
                <a:ext uri="{FF2B5EF4-FFF2-40B4-BE49-F238E27FC236}">
                  <a16:creationId xmlns:a16="http://schemas.microsoft.com/office/drawing/2014/main" id="{8662E7CE-751A-AA72-B7D5-E6E9C341D88A}"/>
                </a:ext>
              </a:extLst>
            </p:cNvPr>
            <p:cNvPicPr/>
            <p:nvPr/>
          </p:nvPicPr>
          <p:blipFill>
            <a:blip r:embed="rId15" cstate="print"/>
            <a:stretch>
              <a:fillRect/>
            </a:stretch>
          </p:blipFill>
          <p:spPr>
            <a:xfrm>
              <a:off x="576395" y="0"/>
              <a:ext cx="1591852" cy="802332"/>
            </a:xfrm>
            <a:prstGeom prst="rect">
              <a:avLst/>
            </a:prstGeom>
          </p:spPr>
        </p:pic>
      </p:grpSp>
    </p:spTree>
    <p:extLst>
      <p:ext uri="{BB962C8B-B14F-4D97-AF65-F5344CB8AC3E}">
        <p14:creationId xmlns:p14="http://schemas.microsoft.com/office/powerpoint/2010/main" val="317515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4320413" cy="369332"/>
          </a:xfrm>
          <a:prstGeom prst="rect">
            <a:avLst/>
          </a:prstGeom>
          <a:noFill/>
        </p:spPr>
        <p:txBody>
          <a:bodyPr wrap="none" rtlCol="0">
            <a:spAutoFit/>
          </a:bodyPr>
          <a:lstStyle/>
          <a:p>
            <a:r>
              <a:rPr lang="en-US" dirty="0"/>
              <a:t>Difficulty Sampling and Experimental Results</a:t>
            </a:r>
          </a:p>
        </p:txBody>
      </p:sp>
      <p:sp>
        <p:nvSpPr>
          <p:cNvPr id="6" name="Content Placeholder 2">
            <a:extLst>
              <a:ext uri="{FF2B5EF4-FFF2-40B4-BE49-F238E27FC236}">
                <a16:creationId xmlns:a16="http://schemas.microsoft.com/office/drawing/2014/main" id="{8EB2CE42-A04A-9956-3059-A788D347AE0D}"/>
              </a:ext>
            </a:extLst>
          </p:cNvPr>
          <p:cNvSpPr txBox="1">
            <a:spLocks/>
          </p:cNvSpPr>
          <p:nvPr/>
        </p:nvSpPr>
        <p:spPr>
          <a:xfrm>
            <a:off x="1451579" y="1938989"/>
            <a:ext cx="4644421" cy="411449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Goal</a:t>
            </a:r>
            <a:r>
              <a:rPr lang="en-US" sz="1800" dirty="0"/>
              <a:t>:</a:t>
            </a:r>
          </a:p>
          <a:p>
            <a:pPr lvl="1" algn="just"/>
            <a:r>
              <a:rPr lang="en-US" sz="1600" dirty="0"/>
              <a:t>Focus on challenging segments to enhance model differentiation</a:t>
            </a:r>
          </a:p>
          <a:p>
            <a:pPr algn="just"/>
            <a:r>
              <a:rPr lang="en-US" sz="1800" u="sng" dirty="0"/>
              <a:t>Techniques</a:t>
            </a:r>
            <a:r>
              <a:rPr lang="en-US" sz="1800" dirty="0"/>
              <a:t>:</a:t>
            </a:r>
          </a:p>
          <a:p>
            <a:pPr lvl="1" algn="just"/>
            <a:r>
              <a:rPr lang="en-US" sz="1600" dirty="0"/>
              <a:t>Readability indices (Dale </a:t>
            </a:r>
            <a:r>
              <a:rPr lang="en-US" sz="1600" dirty="0" err="1"/>
              <a:t>Chall</a:t>
            </a:r>
            <a:r>
              <a:rPr lang="en-US" sz="1600" dirty="0"/>
              <a:t>, Flesch, Gunning Fog)</a:t>
            </a:r>
          </a:p>
          <a:p>
            <a:pPr lvl="1" algn="just"/>
            <a:r>
              <a:rPr lang="en-US" sz="1600" dirty="0"/>
              <a:t>Example: Selecting complex queries in </a:t>
            </a:r>
            <a:r>
              <a:rPr lang="en-US" sz="1600" dirty="0" err="1"/>
              <a:t>TruthfulQA</a:t>
            </a:r>
            <a:endParaRPr lang="en-US" sz="1400" dirty="0"/>
          </a:p>
        </p:txBody>
      </p:sp>
      <p:sp>
        <p:nvSpPr>
          <p:cNvPr id="7" name="Content Placeholder 2">
            <a:extLst>
              <a:ext uri="{FF2B5EF4-FFF2-40B4-BE49-F238E27FC236}">
                <a16:creationId xmlns:a16="http://schemas.microsoft.com/office/drawing/2014/main" id="{1D6B9B9E-F3B1-1BC7-893D-0C6362C2E890}"/>
              </a:ext>
            </a:extLst>
          </p:cNvPr>
          <p:cNvSpPr txBox="1">
            <a:spLocks/>
          </p:cNvSpPr>
          <p:nvPr/>
        </p:nvSpPr>
        <p:spPr>
          <a:xfrm>
            <a:off x="6410432" y="1938989"/>
            <a:ext cx="4644421" cy="38104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Rank Preservation</a:t>
            </a:r>
            <a:r>
              <a:rPr lang="en-US" sz="1800" dirty="0"/>
              <a:t>:</a:t>
            </a:r>
          </a:p>
          <a:p>
            <a:pPr lvl="1" algn="just"/>
            <a:r>
              <a:rPr lang="en-US" sz="1600" dirty="0"/>
              <a:t>High Pearson correlation coefficients (e.g., 0.98 for MMLU)</a:t>
            </a:r>
          </a:p>
          <a:p>
            <a:pPr algn="just"/>
            <a:r>
              <a:rPr lang="en-US" sz="1800" u="sng" dirty="0"/>
              <a:t>Score Distribution</a:t>
            </a:r>
            <a:r>
              <a:rPr lang="en-US" sz="1800" dirty="0"/>
              <a:t>:</a:t>
            </a:r>
          </a:p>
          <a:p>
            <a:pPr lvl="1" algn="just"/>
            <a:r>
              <a:rPr lang="en-US" sz="1600" dirty="0"/>
              <a:t>Low Wasserstein Distance, indicating well-preserved score distributions</a:t>
            </a:r>
          </a:p>
          <a:p>
            <a:pPr algn="just"/>
            <a:r>
              <a:rPr lang="en-US" sz="1800" u="sng" dirty="0"/>
              <a:t>Adaptive Sampling Performance</a:t>
            </a:r>
            <a:r>
              <a:rPr lang="en-US" sz="1800" dirty="0"/>
              <a:t>:</a:t>
            </a:r>
          </a:p>
          <a:p>
            <a:pPr lvl="1" algn="just"/>
            <a:r>
              <a:rPr lang="en-US" sz="1600" dirty="0"/>
              <a:t>Consistent results across diverse benchmarks</a:t>
            </a:r>
          </a:p>
        </p:txBody>
      </p:sp>
    </p:spTree>
    <p:extLst>
      <p:ext uri="{BB962C8B-B14F-4D97-AF65-F5344CB8AC3E}">
        <p14:creationId xmlns:p14="http://schemas.microsoft.com/office/powerpoint/2010/main" val="3165532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FCB-D103-8FAA-63DF-FE9DF4AAB926}"/>
              </a:ext>
            </a:extLst>
          </p:cNvPr>
          <p:cNvSpPr>
            <a:spLocks noGrp="1"/>
          </p:cNvSpPr>
          <p:nvPr>
            <p:ph type="title"/>
          </p:nvPr>
        </p:nvSpPr>
        <p:spPr/>
        <p:txBody>
          <a:bodyPr/>
          <a:lstStyle/>
          <a:p>
            <a:r>
              <a:rPr lang="en-US" dirty="0"/>
              <a:t>LLM Research Work</a:t>
            </a:r>
          </a:p>
        </p:txBody>
      </p:sp>
      <p:sp>
        <p:nvSpPr>
          <p:cNvPr id="4" name="TextBox 3">
            <a:extLst>
              <a:ext uri="{FF2B5EF4-FFF2-40B4-BE49-F238E27FC236}">
                <a16:creationId xmlns:a16="http://schemas.microsoft.com/office/drawing/2014/main" id="{C0BFE02A-D811-B2CB-4789-615D4CFA7C42}"/>
              </a:ext>
            </a:extLst>
          </p:cNvPr>
          <p:cNvSpPr txBox="1"/>
          <p:nvPr/>
        </p:nvSpPr>
        <p:spPr>
          <a:xfrm>
            <a:off x="1451579" y="1390293"/>
            <a:ext cx="3368230" cy="369332"/>
          </a:xfrm>
          <a:prstGeom prst="rect">
            <a:avLst/>
          </a:prstGeom>
          <a:noFill/>
        </p:spPr>
        <p:txBody>
          <a:bodyPr wrap="none" rtlCol="0">
            <a:spAutoFit/>
          </a:bodyPr>
          <a:lstStyle/>
          <a:p>
            <a:r>
              <a:rPr lang="en-US" dirty="0"/>
              <a:t>Broader Application &amp; Conclusion</a:t>
            </a:r>
          </a:p>
        </p:txBody>
      </p:sp>
      <p:sp>
        <p:nvSpPr>
          <p:cNvPr id="6" name="Content Placeholder 2">
            <a:extLst>
              <a:ext uri="{FF2B5EF4-FFF2-40B4-BE49-F238E27FC236}">
                <a16:creationId xmlns:a16="http://schemas.microsoft.com/office/drawing/2014/main" id="{8EB2CE42-A04A-9956-3059-A788D347AE0D}"/>
              </a:ext>
            </a:extLst>
          </p:cNvPr>
          <p:cNvSpPr txBox="1">
            <a:spLocks/>
          </p:cNvSpPr>
          <p:nvPr/>
        </p:nvSpPr>
        <p:spPr>
          <a:xfrm>
            <a:off x="1451579" y="1938989"/>
            <a:ext cx="4644421" cy="411449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Unbalanced Benchmarks</a:t>
            </a:r>
            <a:r>
              <a:rPr lang="en-US" sz="1800" dirty="0"/>
              <a:t>:</a:t>
            </a:r>
          </a:p>
          <a:p>
            <a:pPr lvl="1" algn="just"/>
            <a:r>
              <a:rPr lang="en-US" sz="1600" dirty="0"/>
              <a:t>Balanced sampling approach to capture wider array of tasks</a:t>
            </a:r>
          </a:p>
          <a:p>
            <a:pPr algn="just"/>
            <a:r>
              <a:rPr lang="en-US" sz="1800" u="sng" dirty="0"/>
              <a:t>Benchmark Fairness</a:t>
            </a:r>
            <a:r>
              <a:rPr lang="en-US" sz="1800" dirty="0"/>
              <a:t>:</a:t>
            </a:r>
          </a:p>
          <a:p>
            <a:pPr lvl="1" algn="just"/>
            <a:r>
              <a:rPr lang="en-US" sz="1600" dirty="0"/>
              <a:t>Mitigating biases for fairer model comparisons</a:t>
            </a:r>
          </a:p>
          <a:p>
            <a:pPr algn="just"/>
            <a:r>
              <a:rPr lang="en-US" sz="1800" u="sng" dirty="0"/>
              <a:t>Future Research</a:t>
            </a:r>
            <a:r>
              <a:rPr lang="en-US" sz="1800" dirty="0"/>
              <a:t>:</a:t>
            </a:r>
          </a:p>
          <a:p>
            <a:pPr lvl="1" algn="just"/>
            <a:r>
              <a:rPr lang="en-US" sz="1600" dirty="0"/>
              <a:t>Exploring more adaptive and dynamic evaluation strategies</a:t>
            </a:r>
            <a:endParaRPr lang="en-US" sz="1200" dirty="0"/>
          </a:p>
        </p:txBody>
      </p:sp>
      <p:sp>
        <p:nvSpPr>
          <p:cNvPr id="7" name="Content Placeholder 2">
            <a:extLst>
              <a:ext uri="{FF2B5EF4-FFF2-40B4-BE49-F238E27FC236}">
                <a16:creationId xmlns:a16="http://schemas.microsoft.com/office/drawing/2014/main" id="{1D6B9B9E-F3B1-1BC7-893D-0C6362C2E890}"/>
              </a:ext>
            </a:extLst>
          </p:cNvPr>
          <p:cNvSpPr txBox="1">
            <a:spLocks/>
          </p:cNvSpPr>
          <p:nvPr/>
        </p:nvSpPr>
        <p:spPr>
          <a:xfrm>
            <a:off x="6410432" y="1938989"/>
            <a:ext cx="4644421" cy="38104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800" u="sng" dirty="0"/>
              <a:t>Summary</a:t>
            </a:r>
            <a:r>
              <a:rPr lang="en-US" sz="1800" dirty="0"/>
              <a:t>:</a:t>
            </a:r>
          </a:p>
          <a:p>
            <a:pPr lvl="1" algn="just"/>
            <a:r>
              <a:rPr lang="en-US" sz="1600" dirty="0" err="1"/>
              <a:t>SubLIME</a:t>
            </a:r>
            <a:r>
              <a:rPr lang="en-US" sz="1600" dirty="0"/>
              <a:t> offers a data-efficient, adaptive sampling strategy</a:t>
            </a:r>
          </a:p>
          <a:p>
            <a:pPr lvl="1" algn="just"/>
            <a:r>
              <a:rPr lang="en-US" sz="1600" dirty="0"/>
              <a:t>Significant reduction in evaluation costs</a:t>
            </a:r>
          </a:p>
          <a:p>
            <a:pPr lvl="1" algn="just"/>
            <a:r>
              <a:rPr lang="en-US" sz="1600" dirty="0"/>
              <a:t>Maintains high fidelity in rank and score preservation</a:t>
            </a:r>
          </a:p>
          <a:p>
            <a:pPr algn="just"/>
            <a:r>
              <a:rPr lang="en-US" sz="1800" u="sng" dirty="0"/>
              <a:t>Impact</a:t>
            </a:r>
            <a:r>
              <a:rPr lang="en-US" sz="1800" dirty="0"/>
              <a:t>:</a:t>
            </a:r>
          </a:p>
          <a:p>
            <a:pPr lvl="1" algn="just"/>
            <a:r>
              <a:rPr lang="en-US" sz="1600" dirty="0"/>
              <a:t>Paves the way for sustainable LLM evaluation methodologies</a:t>
            </a:r>
            <a:endParaRPr lang="en-US" sz="1400" dirty="0"/>
          </a:p>
        </p:txBody>
      </p:sp>
    </p:spTree>
    <p:extLst>
      <p:ext uri="{BB962C8B-B14F-4D97-AF65-F5344CB8AC3E}">
        <p14:creationId xmlns:p14="http://schemas.microsoft.com/office/powerpoint/2010/main" val="359595867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595</TotalTime>
  <Words>3936</Words>
  <Application>Microsoft Macintosh PowerPoint</Application>
  <PresentationFormat>Widescreen</PresentationFormat>
  <Paragraphs>484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Gill Sans MT</vt:lpstr>
      <vt:lpstr>Gallery</vt:lpstr>
      <vt:lpstr>James Lim</vt:lpstr>
      <vt:lpstr>Agenda</vt:lpstr>
      <vt:lpstr>Background</vt:lpstr>
      <vt:lpstr>GenAI Project Achievement</vt:lpstr>
      <vt:lpstr>GENAI Project Achievement</vt:lpstr>
      <vt:lpstr>GENAI Project Achievement</vt:lpstr>
      <vt:lpstr>GENAI Project Achievement</vt:lpstr>
      <vt:lpstr>LLM Research Work</vt:lpstr>
      <vt:lpstr>LLM Research Work</vt:lpstr>
      <vt:lpstr>LLM Research Work</vt:lpstr>
      <vt:lpstr>LLM Research Work</vt:lpstr>
      <vt:lpstr>LLM Research Work</vt:lpstr>
      <vt:lpstr>LLM Research Work</vt:lpstr>
      <vt:lpstr>LLM Research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Lim</dc:creator>
  <cp:lastModifiedBy>James Lim</cp:lastModifiedBy>
  <cp:revision>51</cp:revision>
  <dcterms:created xsi:type="dcterms:W3CDTF">2024-05-17T03:55:33Z</dcterms:created>
  <dcterms:modified xsi:type="dcterms:W3CDTF">2025-09-29T08:56:56Z</dcterms:modified>
</cp:coreProperties>
</file>
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78556"/>
  </p:normalViewPr>
  <p:slideViewPr>
    <p:cSldViewPr snapToGrid="0" snapToObjects="1">
      <p:cViewPr>
        <p:scale>
          <a:sx n="109" d="100"/>
          <a:sy n="109" d="100"/>
        </p:scale>
        <p:origin x="164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519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Hyundai watermark emblem: https://www.freepnglogos.com/uploads/hyundai-logo-0.png
- Title slide image from Hyundai Motor Group official news (HMGICS Singapore): https://www.hyundaimotorgroup.com/en/news/CONT0000000000123640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Machine image: https://images.unsplash.com/photo-1555085575-47bd89db1be4?ixid=MnwxMjA3fDB8MHxzZWFyY2h8MTF8fG1pbGxpbmd8ZW58MHx8MHx8&amp;ixlib=rb-4.0.3&amp;q=80&amp;w=1000
- SubLIME paper PDF (The Web Conference, DCAI Workshop, 2024): https://dcai-workshop.github.io/assets/pdf/accepted_papers/106.pdf
- Scale/cost and sampling-performance claims on LLM counts, leaderboard counts, HELM spend, 0.85–0.95 Pearson at 10% sampling, and 1% MMLU sampling are cited from the SubLIME paper PDF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Machine image: https://images.unsplash.com/photo-1555085575-47bd89db1be4?ixid=MnwxMjA3fDB8MHxzZWFyY2h8MTF8fG1pbGxpbmd8ZW58MHx8MHx8&amp;ixlib=rb-4.0.3&amp;q=80&amp;w=1000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TensorBoard training figure from project repository: https://github.com/astrozoid2604/CNC_Vibration/blob/main/experiments/results/Exp15_interim_result.PNG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SubLIME paper PDF (The Web Conference, DCAI Workshop, 2024): https://dcai-workshop.github.io/assets/pdf/accepted_papers/106.pdf
- Scale/cost and sampling-performance claims on LLM counts, leaderboard counts, HELM spend, 0.85–0.95 Pearson at 10% sampling, and 1% MMLU sampling are cited from the SubLIME paper PDF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SubLIME paper PDF (The Web Conference, DCAI Workshop, 2024): https://dcai-workshop.github.io/assets/pdf/accepted_papers/106.pdf
- Scale/cost and sampling-performance claims on LLM counts, leaderboard counts, HELM spend, 0.85–0.95 Pearson at 10% sampling, and 1% MMLU sampling are cited from the SubLIME paper PDF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  <a:p>
            <a:r>
              <a:rPr lang="en-US" dirty="0"/>
              <a:t>- SubLIME paper PDF (The Web Conference, DCAI Workshop, 2024): https://dcai-workshop.github.io/assets/pdf/accepted_papers/106.pdf
- Scale/cost and sampling-performance claims on LLM counts, leaderboard counts, HELM spend, 0.85–0.95 Pearson at 10% sampling, and 1% MMLU sampling are cited from the SubLIME paper PDF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Semantic search diagram image: https://images.squarespace-cdn.com/content/v1/588a02f11b10e3d4643f5c35/0e4f0947-5cd2-40d6-86d8-5a2f43f7cdd4/Semantic%2BSearch%2BDiagram.png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RAG system diagram image: https://assets-global.website-files.com/61082de7b224bb1768edad68/65985ca13ca681c1ee34c710_RAG-system-simplified-breakdown.webp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strozoid2604/ai_km_poc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astrozoid2604/LLM_Leaderboard_Crawl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strozoid2604/CNC_Vibration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CNC_Vibration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strozoid2604/CNC_Vibr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CNC_Vibration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LLM_Leaderboard_Crawler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LLM_Leaderboard_Crawler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LLM_Leaderboard_Crawler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strozoid2604/ai_km_poc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ai_km_poc/" TargetMode="Externa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strozoid2604/ai_km_poc/" TargetMode="Externa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strozoid2604/ai_km_poc/" TargetMode="External"/><Relationship Id="rId5" Type="http://schemas.openxmlformats.org/officeDocument/2006/relationships/hyperlink" Target="https://github.com/astrozoid2604/LLM_Leaderboard_Crawler" TargetMode="External"/><Relationship Id="rId4" Type="http://schemas.openxmlformats.org/officeDocument/2006/relationships/hyperlink" Target="https://github.com/astrozoid2604/CNC_Vibr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yundai_deck/assets/hmgics_singapore.jpg"/>
          <p:cNvPicPr>
            <a:picLocks noChangeAspect="1"/>
          </p:cNvPicPr>
          <p:nvPr/>
        </p:nvPicPr>
        <p:blipFill>
          <a:blip r:embed="rId3"/>
          <a:srcRect l="30564" r="30564"/>
          <a:stretch/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60920" y="0"/>
            <a:ext cx="91440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1097280"/>
            <a:ext cx="54864" cy="233172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987552"/>
            <a:ext cx="5989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2750" dirty="0"/>
          </a:p>
          <a:p>
            <a:pPr marL="0" indent="0">
              <a:buNone/>
            </a:pPr>
            <a:r>
              <a:rPr lang="en-US" sz="2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Portfolio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89611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Lim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2788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candidate | Hyundai Singapore onsite interview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76732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D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AI  •  LLM evaluation research  •  Enterprise GenAI systems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5989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projects, sanitized for confidentiality</a:t>
            </a:r>
            <a:endParaRPr lang="en-US" sz="1050" dirty="0"/>
          </a:p>
        </p:txBody>
      </p:sp>
      <p:pic>
        <p:nvPicPr>
          <p:cNvPr id="10" name="Image 1" descr="/mnt/data/hyundai_deck/assets/hyundai_emblem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54" y="5440680"/>
            <a:ext cx="1001027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projects, one consistent pattern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052149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like to frame ambiguous operational problems clearly, design an evaluation strategy I can trust, and then build toward deployment.</a:t>
            </a:r>
            <a:endParaRPr lang="en-US" sz="1620" dirty="0"/>
          </a:p>
        </p:txBody>
      </p:sp>
      <p:sp>
        <p:nvSpPr>
          <p:cNvPr id="9" name="Shape 6"/>
          <p:cNvSpPr/>
          <p:nvPr/>
        </p:nvSpPr>
        <p:spPr>
          <a:xfrm>
            <a:off x="3721608" y="2260207"/>
            <a:ext cx="411480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43800" y="2260207"/>
            <a:ext cx="411480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757287"/>
            <a:ext cx="34564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mnt/data/hyundai_deck/assets/milling_machine.jpg"/>
          <p:cNvPicPr>
            <a:picLocks noChangeAspect="1"/>
          </p:cNvPicPr>
          <p:nvPr/>
        </p:nvPicPr>
        <p:blipFill>
          <a:blip r:embed="rId4"/>
          <a:srcRect t="24877" b="24877"/>
          <a:stretch/>
        </p:blipFill>
        <p:spPr>
          <a:xfrm>
            <a:off x="585216" y="1793863"/>
            <a:ext cx="3383280" cy="11338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70832" y="1757287"/>
            <a:ext cx="34564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mnt/data/hyundai_deck/assets/paper_result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967" y="1793863"/>
            <a:ext cx="846161" cy="11338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93024" y="1757287"/>
            <a:ext cx="34564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357616" y="2013319"/>
            <a:ext cx="841248" cy="420624"/>
          </a:xfrm>
          <a:prstGeom prst="roundRect">
            <a:avLst/>
          </a:prstGeom>
          <a:solidFill>
            <a:srgbClr val="D9ECFA"/>
          </a:solidFill>
          <a:ln w="12700">
            <a:solidFill>
              <a:srgbClr val="D9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357616" y="2123047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72016" y="2223631"/>
            <a:ext cx="411480" cy="0"/>
          </a:xfrm>
          <a:prstGeom prst="line">
            <a:avLst/>
          </a:prstGeom>
          <a:noFill/>
          <a:ln w="1524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765792" y="2013319"/>
            <a:ext cx="841248" cy="420624"/>
          </a:xfrm>
          <a:prstGeom prst="roundRect">
            <a:avLst/>
          </a:prstGeom>
          <a:solidFill>
            <a:srgbClr val="D9ECFA"/>
          </a:solidFill>
          <a:ln w="12700">
            <a:solidFill>
              <a:srgbClr val="D9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9765792" y="2123047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680192" y="2223631"/>
            <a:ext cx="411480" cy="0"/>
          </a:xfrm>
          <a:prstGeom prst="line">
            <a:avLst/>
          </a:prstGeom>
          <a:noFill/>
          <a:ln w="1524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991088" y="2013319"/>
            <a:ext cx="512064" cy="420624"/>
          </a:xfrm>
          <a:prstGeom prst="roundRect">
            <a:avLst/>
          </a:prstGeom>
          <a:solidFill>
            <a:srgbClr val="D9ECFA"/>
          </a:solidFill>
          <a:ln w="12700">
            <a:solidFill>
              <a:srgbClr val="D9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0991088" y="2123047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85216" y="3267921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Industrial AI under data scarcity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370832" y="3257839"/>
            <a:ext cx="3816098" cy="20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Research rigor for LLM benchmarking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186930" y="3235444"/>
            <a:ext cx="3915038" cy="23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Deployable GenAI for enterprise search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48640" y="3772013"/>
            <a:ext cx="3456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Synthesized rare failure patterns from limited machine breakdown data.</a:t>
            </a:r>
            <a:endParaRPr lang="en-US" sz="1440" dirty="0"/>
          </a:p>
          <a:p>
            <a:pPr marL="0" indent="0">
              <a:buNone/>
            </a:pPr>
            <a:endParaRPr lang="en-US" sz="1440" dirty="0">
              <a:solidFill>
                <a:srgbClr val="20304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Moved maintenance closer to need, not fixed calendar checks.</a:t>
            </a:r>
            <a:endParaRPr lang="en-US" sz="1440" dirty="0"/>
          </a:p>
        </p:txBody>
      </p:sp>
      <p:sp>
        <p:nvSpPr>
          <p:cNvPr id="28" name="Text 23"/>
          <p:cNvSpPr/>
          <p:nvPr/>
        </p:nvSpPr>
        <p:spPr>
          <a:xfrm>
            <a:off x="4370832" y="3772013"/>
            <a:ext cx="3456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Tested random, quality, clustering and adaptive sampling strategies.</a:t>
            </a:r>
            <a:endParaRPr lang="en-US" sz="1440" dirty="0"/>
          </a:p>
          <a:p>
            <a:pPr marL="0" indent="0">
              <a:buNone/>
            </a:pPr>
            <a:endParaRPr lang="en-US" sz="1440" dirty="0">
              <a:solidFill>
                <a:srgbClr val="20304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Preserved model ranking with far less evaluation data.</a:t>
            </a:r>
            <a:endParaRPr lang="en-US" sz="1440" dirty="0"/>
          </a:p>
        </p:txBody>
      </p:sp>
      <p:sp>
        <p:nvSpPr>
          <p:cNvPr id="29" name="Text 24"/>
          <p:cNvSpPr/>
          <p:nvPr/>
        </p:nvSpPr>
        <p:spPr>
          <a:xfrm>
            <a:off x="8193024" y="3772013"/>
            <a:ext cx="3456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friction in both knowledge capture and knowledge retrieval.</a:t>
            </a:r>
            <a:endParaRPr lang="en-US" sz="1440" dirty="0"/>
          </a:p>
          <a:p>
            <a:pPr marL="0" indent="0">
              <a:buNone/>
            </a:pPr>
            <a:endParaRPr lang="en-US" sz="1440" dirty="0">
              <a:solidFill>
                <a:srgbClr val="20304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a path from local PoC to M365-connected deployment.</a:t>
            </a:r>
            <a:endParaRPr lang="en-US" sz="1440" dirty="0"/>
          </a:p>
        </p:txBody>
      </p:sp>
      <p:sp>
        <p:nvSpPr>
          <p:cNvPr id="30" name="Text 25"/>
          <p:cNvSpPr/>
          <p:nvPr/>
        </p:nvSpPr>
        <p:spPr>
          <a:xfrm>
            <a:off x="548640" y="5567288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astrozoid2604/CNC_Vibration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370831" y="5567289"/>
            <a:ext cx="4280799" cy="20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astrozoid2604/LLM_Leaderboard_Crawler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651630" y="5556237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astrozoid2604/ai_km_poc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DGAN-based predictive maintenance on CNC vibration data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0607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Singapore needed earlier maintenance signals, but the richest failure cases lived elsewhere and could not be transferred freely at scale.</a:t>
            </a:r>
            <a:endParaRPr lang="en-US" sz="1620" dirty="0"/>
          </a:p>
        </p:txBody>
      </p:sp>
      <p:sp>
        <p:nvSpPr>
          <p:cNvPr id="9" name="Text 6"/>
          <p:cNvSpPr/>
          <p:nvPr/>
        </p:nvSpPr>
        <p:spPr>
          <a:xfrm>
            <a:off x="566928" y="193243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66928" y="2161030"/>
            <a:ext cx="5897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Singapore and China plants used the same CNC machine family, but detailed breakdown data was concentrated in China.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Fixed-schedule vendor visits created many false positives and still reacted too late to real machine issues.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566928" y="354594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66928" y="3783690"/>
            <a:ext cx="5897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 latent failure signatures from minimal abnormal data and generate synthetic multivariate time-series samples.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those patterns to trigger maintenance before breakdown rather than on a fixed schedule.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566928" y="514614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66928" y="538389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the data pipeline, modified DoppelGANger losses, tuned hyperparameters, containerized inference, and created a Dash / Plotly monitoring UI.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6967728" y="1353312"/>
            <a:ext cx="4663440" cy="4261104"/>
          </a:xfrm>
          <a:prstGeom prst="roundRect">
            <a:avLst>
              <a:gd name="adj" fmla="val 1717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/mnt/data/hyundai_deck/assets/milling_machine.jpg"/>
          <p:cNvPicPr>
            <a:picLocks noChangeAspect="1"/>
          </p:cNvPicPr>
          <p:nvPr/>
        </p:nvPicPr>
        <p:blipFill>
          <a:blip r:embed="rId4"/>
          <a:srcRect l="13446" r="13446"/>
          <a:stretch/>
        </p:blipFill>
        <p:spPr>
          <a:xfrm>
            <a:off x="7004304" y="1389888"/>
            <a:ext cx="4590288" cy="41879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77456" y="565099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machine / process image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66928" y="630743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astrozoid2604/CNC_Vibration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limited failure records to a deployable maintenance workflow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0241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challenge was not just generating realistic time-series — it was making the result stable enough to support an operational maintenance decision.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96896" y="2400300"/>
            <a:ext cx="219456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64608" y="2400300"/>
            <a:ext cx="219456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32320" y="2400300"/>
            <a:ext cx="219456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400032" y="2400300"/>
            <a:ext cx="219456" cy="0"/>
          </a:xfrm>
          <a:prstGeom prst="line">
            <a:avLst/>
          </a:prstGeom>
          <a:noFill/>
          <a:ln w="1778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1874520"/>
            <a:ext cx="2048256" cy="1051560"/>
          </a:xfrm>
          <a:prstGeom prst="roundRect">
            <a:avLst/>
          </a:prstGeom>
          <a:solidFill>
            <a:srgbClr val="EDF7FB"/>
          </a:solidFill>
          <a:ln w="15240">
            <a:solidFill>
              <a:srgbClr val="B9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streams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y / z axes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16352" y="1874520"/>
            <a:ext cx="2048256" cy="1051560"/>
          </a:xfrm>
          <a:prstGeom prst="roundRect">
            <a:avLst/>
          </a:prstGeom>
          <a:solidFill>
            <a:srgbClr val="EDF7FB"/>
          </a:solidFill>
          <a:ln w="15240">
            <a:solidFill>
              <a:srgbClr val="B9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926080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imputation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84064" y="1874520"/>
            <a:ext cx="2048256" cy="1051560"/>
          </a:xfrm>
          <a:prstGeom prst="roundRect">
            <a:avLst/>
          </a:prstGeom>
          <a:solidFill>
            <a:srgbClr val="DDEFFC"/>
          </a:solidFill>
          <a:ln w="15240">
            <a:solidFill>
              <a:srgbClr val="002C5F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93792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DGAN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divergence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loss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LR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51776" y="1874520"/>
            <a:ext cx="2048256" cy="1051560"/>
          </a:xfrm>
          <a:prstGeom prst="roundRect">
            <a:avLst/>
          </a:prstGeom>
          <a:solidFill>
            <a:srgbClr val="EDF7FB"/>
          </a:solidFill>
          <a:ln w="15240">
            <a:solidFill>
              <a:srgbClr val="B9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61504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failure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trajectories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619488" y="1874520"/>
            <a:ext cx="2048256" cy="1051560"/>
          </a:xfrm>
          <a:prstGeom prst="roundRect">
            <a:avLst/>
          </a:prstGeom>
          <a:solidFill>
            <a:srgbClr val="EDF7FB"/>
          </a:solidFill>
          <a:ln w="15240">
            <a:solidFill>
              <a:srgbClr val="B9D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729216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similarity scoring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dashboard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97280" y="3703320"/>
            <a:ext cx="10012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97704" y="3886360"/>
            <a:ext cx="18342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Operationalization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2965382" y="3803904"/>
            <a:ext cx="8092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model parameters, packaged a Docker-based inference pipeline, computed similarity against real-time sensory data, and triggered vendor maintenance when live patterns approached known failure characteristics.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1261872" y="4315968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•  Gretel DGAN  •  </a:t>
            </a:r>
            <a:r>
              <a:rPr lang="en-US" sz="1250" dirty="0" err="1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GPU  •  </a:t>
            </a:r>
            <a:r>
              <a:rPr lang="en-US" sz="1250" dirty="0" err="1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TensorBoard</a:t>
            </a:r>
            <a:r>
              <a:rPr lang="en-US" sz="12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Docker  •  Dash / Plotly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794760" y="5074920"/>
            <a:ext cx="4572000" cy="621792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950208" y="5230368"/>
            <a:ext cx="4416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action happens when the signal looks like failure — not when the calendar says so.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566928" y="6199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astrozoid2604/CNC_Vibration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impact and what I learned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1234440"/>
            <a:ext cx="6492240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yundai_deck/assets/project1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076273"/>
            <a:ext cx="6400800" cy="3418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6373368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diagnostics from a tuned DoppelGANger experiment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424928" y="1325880"/>
            <a:ext cx="2148840" cy="960120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534656" y="1543410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 hours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534656" y="1909170"/>
            <a:ext cx="19293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saved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738360" y="1325880"/>
            <a:ext cx="1874520" cy="96012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848088" y="154341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~SGD 10,000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848088" y="1909170"/>
            <a:ext cx="16550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machine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424928" y="26791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mattered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424928" y="300629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waste from fixed-schedule maintenance checks.</a:t>
            </a:r>
          </a:p>
          <a:p>
            <a:pPr marL="0" indent="0">
              <a:buNone/>
            </a:pP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 a practical path around extreme failure-data scarcity.</a:t>
            </a:r>
            <a:endParaRPr lang="en-US" sz="1510" dirty="0"/>
          </a:p>
        </p:txBody>
      </p:sp>
      <p:sp>
        <p:nvSpPr>
          <p:cNvPr id="19" name="Text 15"/>
          <p:cNvSpPr/>
          <p:nvPr/>
        </p:nvSpPr>
        <p:spPr>
          <a:xfrm>
            <a:off x="7424928" y="427281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7424928" y="464803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data quality still depends on the quality of rare seed failures.</a:t>
            </a:r>
          </a:p>
          <a:p>
            <a:pPr marL="0" indent="0">
              <a:buNone/>
            </a:pP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step: richer sensor fusion, online drift monitoring, and closed-loop retraining.</a:t>
            </a:r>
            <a:endParaRPr lang="en-US" sz="1510" dirty="0"/>
          </a:p>
        </p:txBody>
      </p:sp>
      <p:sp>
        <p:nvSpPr>
          <p:cNvPr id="21" name="Text 17"/>
          <p:cNvSpPr/>
          <p:nvPr/>
        </p:nvSpPr>
        <p:spPr>
          <a:xfrm>
            <a:off x="7424928" y="6172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astrozoid2604/CNC_Vibration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SubLIME: less data, still trustworthy LLM evaluation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1051560"/>
            <a:ext cx="4099462" cy="411480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1" y="1170432"/>
            <a:ext cx="384696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[2024 ACM WWW Best Research Paper Award]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162763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behind the paper was simple: if leaderboard evaluation is expensive, can we preserve model ranking with only a carefully chosen subset of benchmark items?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66928" y="2331720"/>
            <a:ext cx="5669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Evaluating fast-growing LLM ecosystems is computationally and financially expensive.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 compared random, quality-based, clustering-based and difficulty-based sampling approaches.</a:t>
            </a: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 contributed to the benchmarking pipeline, sampling analysis and paper presentation.</a:t>
            </a:r>
            <a:endParaRPr lang="en-US" sz="1510" dirty="0"/>
          </a:p>
        </p:txBody>
      </p:sp>
      <p:sp>
        <p:nvSpPr>
          <p:cNvPr id="12" name="Shape 9"/>
          <p:cNvSpPr/>
          <p:nvPr/>
        </p:nvSpPr>
        <p:spPr>
          <a:xfrm>
            <a:off x="566928" y="4709160"/>
            <a:ext cx="1755648" cy="932688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6656" y="478231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76656" y="514807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models mentioned in the paper context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487168" y="4709160"/>
            <a:ext cx="1755648" cy="932688"/>
          </a:xfrm>
          <a:prstGeom prst="round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96896" y="478231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3k+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596896" y="5148072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on the Open LLM Leaderboard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407408" y="4709160"/>
            <a:ext cx="1993392" cy="93268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17136" y="478231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~US$50k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517136" y="514807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spend for a 30-model evaluation cited in the paper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29400" y="1325880"/>
            <a:ext cx="498348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/mnt/data/hyundai_deck/assets/paper_heade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554224"/>
            <a:ext cx="4837176" cy="16123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84848" y="5422392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 paper header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66928" y="6199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astrozoid2604/LLM_Leaderboard_Crawler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sampling framework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1234440"/>
            <a:ext cx="4160520" cy="495604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yundai_deck/assets/paper_algo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97" y="1289304"/>
            <a:ext cx="3419183" cy="4846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623620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excerpt: experimental design and algorithm sketch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74920" y="1234439"/>
            <a:ext cx="3541542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families I explored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074920" y="1627632"/>
            <a:ext cx="1097280" cy="365760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74920" y="17282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6300216" y="1627632"/>
            <a:ext cx="1143000" cy="365760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300216" y="17282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571232" y="1627632"/>
            <a:ext cx="1280160" cy="365760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571232" y="17282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180" dirty="0"/>
          </a:p>
        </p:txBody>
      </p:sp>
      <p:sp>
        <p:nvSpPr>
          <p:cNvPr id="18" name="Shape 14"/>
          <p:cNvSpPr/>
          <p:nvPr/>
        </p:nvSpPr>
        <p:spPr>
          <a:xfrm>
            <a:off x="8979408" y="1627632"/>
            <a:ext cx="1261872" cy="365760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979408" y="172821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</a:t>
            </a:r>
            <a:endParaRPr lang="en-US" sz="1180" dirty="0"/>
          </a:p>
        </p:txBody>
      </p:sp>
      <p:sp>
        <p:nvSpPr>
          <p:cNvPr id="20" name="Shape 16"/>
          <p:cNvSpPr/>
          <p:nvPr/>
        </p:nvSpPr>
        <p:spPr>
          <a:xfrm>
            <a:off x="6949440" y="2857500"/>
            <a:ext cx="219456" cy="0"/>
          </a:xfrm>
          <a:prstGeom prst="line">
            <a:avLst/>
          </a:prstGeom>
          <a:noFill/>
          <a:ln w="1651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125712" y="2857500"/>
            <a:ext cx="219456" cy="0"/>
          </a:xfrm>
          <a:prstGeom prst="line">
            <a:avLst/>
          </a:prstGeom>
          <a:noFill/>
          <a:ln w="16510">
            <a:solidFill>
              <a:srgbClr val="2AA6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074920" y="242316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84648" y="258775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generation</a:t>
            </a:r>
            <a:endParaRPr lang="en-US" sz="1360" dirty="0"/>
          </a:p>
        </p:txBody>
      </p:sp>
      <p:sp>
        <p:nvSpPr>
          <p:cNvPr id="24" name="Shape 20"/>
          <p:cNvSpPr/>
          <p:nvPr/>
        </p:nvSpPr>
        <p:spPr>
          <a:xfrm>
            <a:off x="7269480" y="2423160"/>
            <a:ext cx="1874520" cy="868680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379208" y="258775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 evaluation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50 models</a:t>
            </a:r>
            <a:endParaRPr lang="en-US" sz="1360" dirty="0"/>
          </a:p>
        </p:txBody>
      </p:sp>
      <p:sp>
        <p:nvSpPr>
          <p:cNvPr id="26" name="Shape 22"/>
          <p:cNvSpPr/>
          <p:nvPr/>
        </p:nvSpPr>
        <p:spPr>
          <a:xfrm>
            <a:off x="9464040" y="2423160"/>
            <a:ext cx="1874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9573768" y="2587752"/>
            <a:ext cx="1655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check</a:t>
            </a:r>
            <a:endParaRPr lang="en-US" sz="1360" dirty="0"/>
          </a:p>
        </p:txBody>
      </p:sp>
      <p:sp>
        <p:nvSpPr>
          <p:cNvPr id="28" name="Text 24"/>
          <p:cNvSpPr/>
          <p:nvPr/>
        </p:nvSpPr>
        <p:spPr>
          <a:xfrm>
            <a:off x="5074920" y="3840479"/>
            <a:ext cx="2496312" cy="329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design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074920" y="4325112"/>
            <a:ext cx="7117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 top models × 6 benchmarks × 1–100% sampling rates.</a:t>
            </a: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20304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Metrics: Pearson rank correlation, Wasserstein distance, KL divergence and KS test.</a:t>
            </a:r>
            <a:endParaRPr lang="en-US" sz="1400" dirty="0"/>
          </a:p>
          <a:p>
            <a:pPr marL="0" indent="0">
              <a:buNone/>
            </a:pPr>
            <a:endParaRPr lang="en-US" sz="1400" dirty="0">
              <a:solidFill>
                <a:srgbClr val="20304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metrics included CPD, lexical diversity and spelling error; clustering used TF-IDF, BERT and MTEB-based variants.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074920" y="6199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astrozoid2604/LLM_Leaderboard_Crawler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preserve ranking, cut evaluation cost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1298448"/>
            <a:ext cx="626364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yundai_deck/assets/paper_mmlu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29853"/>
            <a:ext cx="6153912" cy="23994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5806440"/>
            <a:ext cx="5897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 excerpt: adaptive sampling behavior on MMLU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150608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Strong rank preservation</a:t>
            </a:r>
            <a:endParaRPr lang="en-US" sz="1580" dirty="0"/>
          </a:p>
        </p:txBody>
      </p:sp>
      <p:sp>
        <p:nvSpPr>
          <p:cNvPr id="12" name="Text 8"/>
          <p:cNvSpPr/>
          <p:nvPr/>
        </p:nvSpPr>
        <p:spPr>
          <a:xfrm>
            <a:off x="7150608" y="16642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Quality-based sampling maintained Pearson correlations around 0.85–0.95 with the full datasets at 10% sampling in the paper’s experiments.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50608" y="26517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Benchmark-specific selection mattered</a:t>
            </a:r>
            <a:endParaRPr lang="en-US" sz="1580" dirty="0"/>
          </a:p>
        </p:txBody>
      </p:sp>
      <p:sp>
        <p:nvSpPr>
          <p:cNvPr id="14" name="Text 10"/>
          <p:cNvSpPr/>
          <p:nvPr/>
        </p:nvSpPr>
        <p:spPr>
          <a:xfrm>
            <a:off x="7150608" y="29077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sampling family dominated every benchmark; adaptive selection improved robustness by choosing the right subset strategy for the task.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50608" y="39136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Large efficiency gains</a:t>
            </a:r>
            <a:endParaRPr lang="en-US" sz="1580" dirty="0"/>
          </a:p>
        </p:txBody>
      </p:sp>
      <p:sp>
        <p:nvSpPr>
          <p:cNvPr id="16" name="Text 12"/>
          <p:cNvSpPr/>
          <p:nvPr/>
        </p:nvSpPr>
        <p:spPr>
          <a:xfrm>
            <a:off x="7150608" y="4169664"/>
            <a:ext cx="4407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sampling reduced MMLU evaluation time by up to 99% while keeping ranks and score distributions statistically aligned; the paper also highlights effective behavior even at very small sample rates.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150608" y="5303520"/>
            <a:ext cx="4206240" cy="50292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315200" y="546811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1330" i="1" dirty="0">
                <a:solidFill>
                  <a:srgbClr val="E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liked about this work: it forced me to think about evaluation as a product, not just as an experiment.</a:t>
            </a:r>
            <a:endParaRPr lang="en-US" sz="1330" dirty="0"/>
          </a:p>
        </p:txBody>
      </p:sp>
      <p:sp>
        <p:nvSpPr>
          <p:cNvPr id="19" name="Text 15"/>
          <p:cNvSpPr/>
          <p:nvPr/>
        </p:nvSpPr>
        <p:spPr>
          <a:xfrm>
            <a:off x="7150608" y="61996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astrozoid2604/LLM_Leaderboard_Crawler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knowledge search: friction in both ingestion and retrieval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042416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 was a simple question: if employees struggle to submit knowledge and the chatbot misses relevant results, can one system improve both capture and discovery?</a:t>
            </a:r>
            <a:endParaRPr lang="en-US" sz="1620" dirty="0"/>
          </a:p>
        </p:txBody>
      </p:sp>
      <p:sp>
        <p:nvSpPr>
          <p:cNvPr id="9" name="Shape 6"/>
          <p:cNvSpPr/>
          <p:nvPr/>
        </p:nvSpPr>
        <p:spPr>
          <a:xfrm>
            <a:off x="749808" y="1737360"/>
            <a:ext cx="464515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2688" y="1901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practice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044952" y="2770632"/>
            <a:ext cx="0" cy="155448"/>
          </a:xfrm>
          <a:prstGeom prst="line">
            <a:avLst/>
          </a:prstGeom>
          <a:noFill/>
          <a:ln w="15240">
            <a:solidFill>
              <a:srgbClr val="C03A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44952" y="3456432"/>
            <a:ext cx="0" cy="155448"/>
          </a:xfrm>
          <a:prstGeom prst="line">
            <a:avLst/>
          </a:prstGeom>
          <a:noFill/>
          <a:ln w="15240">
            <a:solidFill>
              <a:srgbClr val="C03A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7552" y="2240280"/>
            <a:ext cx="4114800" cy="530352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F0C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33856" y="235000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Apps form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fields to fill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987552" y="2926080"/>
            <a:ext cx="4114800" cy="530352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F0C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33856" y="303580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list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storage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87552" y="3611880"/>
            <a:ext cx="4114800" cy="530352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F0C7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33856" y="372160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WebApp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32688" y="4443984"/>
            <a:ext cx="4261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had to remember a specific link.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Filling many fields created capture friction.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startup was slow and relevant entries were often missed.</a:t>
            </a:r>
            <a:endParaRPr lang="en-US" sz="1460" dirty="0"/>
          </a:p>
        </p:txBody>
      </p:sp>
      <p:sp>
        <p:nvSpPr>
          <p:cNvPr id="20" name="Shape 17"/>
          <p:cNvSpPr/>
          <p:nvPr/>
        </p:nvSpPr>
        <p:spPr>
          <a:xfrm>
            <a:off x="5632704" y="3127248"/>
            <a:ext cx="868680" cy="512064"/>
          </a:xfrm>
          <a:prstGeom prst="rightArrow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15000" y="32186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766560" y="173736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49440" y="1901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8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experience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9070848" y="2770632"/>
            <a:ext cx="0" cy="155448"/>
          </a:xfrm>
          <a:prstGeom prst="line">
            <a:avLst/>
          </a:prstGeom>
          <a:noFill/>
          <a:ln w="15240">
            <a:solidFill>
              <a:srgbClr val="14866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070848" y="3456432"/>
            <a:ext cx="0" cy="155448"/>
          </a:xfrm>
          <a:prstGeom prst="line">
            <a:avLst/>
          </a:prstGeom>
          <a:noFill/>
          <a:ln w="15240">
            <a:solidFill>
              <a:srgbClr val="14866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004304" y="2240280"/>
            <a:ext cx="4133088" cy="530352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B7E1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50608" y="2350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/ WebApp /</a:t>
            </a:r>
            <a:endParaRPr lang="en-US" sz="1430" dirty="0"/>
          </a:p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trigger</a:t>
            </a:r>
            <a:endParaRPr lang="en-US" sz="1430" dirty="0"/>
          </a:p>
        </p:txBody>
      </p:sp>
      <p:sp>
        <p:nvSpPr>
          <p:cNvPr id="28" name="Shape 25"/>
          <p:cNvSpPr/>
          <p:nvPr/>
        </p:nvSpPr>
        <p:spPr>
          <a:xfrm>
            <a:off x="7004304" y="2926080"/>
            <a:ext cx="4133088" cy="530352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B7E1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150608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extraction +</a:t>
            </a:r>
            <a:endParaRPr lang="en-US" sz="1430" dirty="0"/>
          </a:p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indexing</a:t>
            </a:r>
            <a:endParaRPr lang="en-US" sz="1430" dirty="0"/>
          </a:p>
        </p:txBody>
      </p:sp>
      <p:sp>
        <p:nvSpPr>
          <p:cNvPr id="30" name="Shape 27"/>
          <p:cNvSpPr/>
          <p:nvPr/>
        </p:nvSpPr>
        <p:spPr>
          <a:xfrm>
            <a:off x="7004304" y="3611880"/>
            <a:ext cx="4133088" cy="530352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B7E1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150608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chatbot for</a:t>
            </a:r>
            <a:endParaRPr lang="en-US" sz="1430" dirty="0"/>
          </a:p>
          <a:p>
            <a:pPr marL="0" indent="0" algn="ctr">
              <a:buNone/>
            </a:pPr>
            <a:r>
              <a:rPr lang="en-US" sz="14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+ search</a:t>
            </a:r>
            <a:endParaRPr lang="en-US" sz="1430" dirty="0"/>
          </a:p>
        </p:txBody>
      </p:sp>
      <p:sp>
        <p:nvSpPr>
          <p:cNvPr id="32" name="Text 29"/>
          <p:cNvSpPr/>
          <p:nvPr/>
        </p:nvSpPr>
        <p:spPr>
          <a:xfrm>
            <a:off x="6949440" y="4443984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Lower-friction capture through drag-and-drop or chat trigger.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Embedding-based retrieval instead of brittle keyword-only search.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place to both submit and discover knowledge.</a:t>
            </a:r>
            <a:endParaRPr lang="en-US" sz="1460" dirty="0"/>
          </a:p>
        </p:txBody>
      </p:sp>
      <p:sp>
        <p:nvSpPr>
          <p:cNvPr id="33" name="Shape 30"/>
          <p:cNvSpPr/>
          <p:nvPr/>
        </p:nvSpPr>
        <p:spPr>
          <a:xfrm>
            <a:off x="3584448" y="5724144"/>
            <a:ext cx="4983480" cy="310896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767328" y="5815584"/>
            <a:ext cx="4608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knowledge base, much less user friction.</a:t>
            </a:r>
            <a:endParaRPr lang="en-US" sz="1420" dirty="0"/>
          </a:p>
        </p:txBody>
      </p:sp>
      <p:sp>
        <p:nvSpPr>
          <p:cNvPr id="35" name="Text 32"/>
          <p:cNvSpPr/>
          <p:nvPr/>
        </p:nvSpPr>
        <p:spPr>
          <a:xfrm>
            <a:off x="749808" y="6208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astrozoid2604/ai_km_poc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one asset, one embedding, top-k retrieval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19088" y="1280160"/>
            <a:ext cx="51937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yundai_deck/assets/semantic_search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090547"/>
            <a:ext cx="5084064" cy="28597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0256" y="579729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retrieval reference diagram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1792" y="12618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58368" y="1664208"/>
            <a:ext cx="329184" cy="329184"/>
          </a:xfrm>
          <a:prstGeom prst="ellipse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58368" y="172821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78992" y="168249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files or ask via chat</a:t>
            </a:r>
            <a:endParaRPr lang="en-US" sz="1480" dirty="0"/>
          </a:p>
        </p:txBody>
      </p:sp>
      <p:sp>
        <p:nvSpPr>
          <p:cNvPr id="15" name="Shape 11"/>
          <p:cNvSpPr/>
          <p:nvPr/>
        </p:nvSpPr>
        <p:spPr>
          <a:xfrm>
            <a:off x="658368" y="2395728"/>
            <a:ext cx="329184" cy="329184"/>
          </a:xfrm>
          <a:prstGeom prst="ellipse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58368" y="24597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78992" y="241401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Title / Summary / Benefits / owner metadata</a:t>
            </a:r>
            <a:endParaRPr lang="en-US" sz="1480" dirty="0"/>
          </a:p>
        </p:txBody>
      </p:sp>
      <p:sp>
        <p:nvSpPr>
          <p:cNvPr id="18" name="Shape 14"/>
          <p:cNvSpPr/>
          <p:nvPr/>
        </p:nvSpPr>
        <p:spPr>
          <a:xfrm>
            <a:off x="658368" y="3127248"/>
            <a:ext cx="329184" cy="329184"/>
          </a:xfrm>
          <a:prstGeom prst="ellipse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58368" y="31912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78992" y="314553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metadata in SharePoint and one embedding in Chroma</a:t>
            </a:r>
            <a:endParaRPr lang="en-US" sz="1480" dirty="0"/>
          </a:p>
        </p:txBody>
      </p:sp>
      <p:sp>
        <p:nvSpPr>
          <p:cNvPr id="21" name="Shape 17"/>
          <p:cNvSpPr/>
          <p:nvPr/>
        </p:nvSpPr>
        <p:spPr>
          <a:xfrm>
            <a:off x="658368" y="3858768"/>
            <a:ext cx="329184" cy="329184"/>
          </a:xfrm>
          <a:prstGeom prst="ellipse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58368" y="392277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78992" y="387705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query and retrieve top-k by cosine similarity</a:t>
            </a:r>
            <a:endParaRPr lang="en-US" sz="1480" dirty="0"/>
          </a:p>
        </p:txBody>
      </p:sp>
      <p:sp>
        <p:nvSpPr>
          <p:cNvPr id="24" name="Shape 20"/>
          <p:cNvSpPr/>
          <p:nvPr/>
        </p:nvSpPr>
        <p:spPr>
          <a:xfrm>
            <a:off x="658368" y="4590288"/>
            <a:ext cx="329184" cy="329184"/>
          </a:xfrm>
          <a:prstGeom prst="ellipse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58368" y="46542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992" y="460857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grounded answer + inline table + Excel export</a:t>
            </a:r>
            <a:endParaRPr lang="en-US" sz="1480" dirty="0"/>
          </a:p>
        </p:txBody>
      </p:sp>
      <p:sp>
        <p:nvSpPr>
          <p:cNvPr id="27" name="Shape 23"/>
          <p:cNvSpPr/>
          <p:nvPr/>
        </p:nvSpPr>
        <p:spPr>
          <a:xfrm>
            <a:off x="658368" y="5440680"/>
            <a:ext cx="5285232" cy="585216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859536" y="5623560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60" b="1" dirty="0">
                <a:solidFill>
                  <a:srgbClr val="E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asset ↔ 1 vector mapping kept search results traceable to a unique RecordId.</a:t>
            </a:r>
            <a:endParaRPr lang="en-US" sz="1460" dirty="0"/>
          </a:p>
        </p:txBody>
      </p:sp>
      <p:sp>
        <p:nvSpPr>
          <p:cNvPr id="29" name="Text 25"/>
          <p:cNvSpPr/>
          <p:nvPr/>
        </p:nvSpPr>
        <p:spPr>
          <a:xfrm>
            <a:off x="658368" y="6236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astrozoid2604/ai_km_poc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decisions that made the system practical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66928" y="1316736"/>
            <a:ext cx="525780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yundai_deck/assets/rag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35385"/>
            <a:ext cx="5148072" cy="289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548640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RAG diagram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36208" y="1298448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0" y="1435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00800" y="168249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integration toggled by environment variables; local CSV fallback for metadata; validation for email, site code and function fields.</a:t>
            </a:r>
            <a:endParaRPr lang="en-US" sz="1460" dirty="0"/>
          </a:p>
        </p:txBody>
      </p:sp>
      <p:sp>
        <p:nvSpPr>
          <p:cNvPr id="14" name="Shape 10"/>
          <p:cNvSpPr/>
          <p:nvPr/>
        </p:nvSpPr>
        <p:spPr>
          <a:xfrm>
            <a:off x="6236208" y="2670048"/>
            <a:ext cx="5029200" cy="1051560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800" y="2807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00800" y="305409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ingestion across PDF / DOCX / XLSX / TXT / PPTX; confirmation loops; downloadable Excel results for search matches.</a:t>
            </a:r>
            <a:endParaRPr lang="en-US" sz="1460" dirty="0"/>
          </a:p>
        </p:txBody>
      </p:sp>
      <p:sp>
        <p:nvSpPr>
          <p:cNvPr id="17" name="Shape 13"/>
          <p:cNvSpPr/>
          <p:nvPr/>
        </p:nvSpPr>
        <p:spPr>
          <a:xfrm>
            <a:off x="6236208" y="4041648"/>
            <a:ext cx="5029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0" y="4178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path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400800" y="4425696"/>
            <a:ext cx="4700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 today, with a clear route to Teams message extension or Copilot experience in an enterprise M365 tenant.</a:t>
            </a:r>
            <a:endParaRPr lang="en-US" sz="1460" dirty="0"/>
          </a:p>
        </p:txBody>
      </p:sp>
      <p:sp>
        <p:nvSpPr>
          <p:cNvPr id="20" name="Shape 16"/>
          <p:cNvSpPr/>
          <p:nvPr/>
        </p:nvSpPr>
        <p:spPr>
          <a:xfrm>
            <a:off x="6236208" y="5504688"/>
            <a:ext cx="5029200" cy="493776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419088" y="5669280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340" i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sanitized PoC details are shown here; no confidential enterprise data is included.</a:t>
            </a:r>
            <a:endParaRPr lang="en-US" sz="1340" dirty="0"/>
          </a:p>
        </p:txBody>
      </p:sp>
      <p:sp>
        <p:nvSpPr>
          <p:cNvPr id="22" name="Text 18"/>
          <p:cNvSpPr/>
          <p:nvPr/>
        </p:nvSpPr>
        <p:spPr>
          <a:xfrm>
            <a:off x="6236208" y="6236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→ astrozoid2604/ai_km_poc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A6D8"/>
          </a:solidFill>
          <a:ln w="12700">
            <a:solidFill>
              <a:srgbClr val="2AA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A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0175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bring to Hyundai Singapore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1064240" cy="0"/>
          </a:xfrm>
          <a:prstGeom prst="line">
            <a:avLst/>
          </a:prstGeom>
          <a:noFill/>
          <a:ln w="1524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6" y="6474181"/>
            <a:ext cx="384048" cy="1824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84280" y="164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" y="10241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projects represent the way I like to work as a data scientist: start from an operational pain point, make the evaluation rigorous, and keep the end deployment in view.</a:t>
            </a:r>
            <a:endParaRPr lang="en-US" sz="1610" dirty="0"/>
          </a:p>
        </p:txBody>
      </p:sp>
      <p:sp>
        <p:nvSpPr>
          <p:cNvPr id="9" name="Shape 6"/>
          <p:cNvSpPr/>
          <p:nvPr/>
        </p:nvSpPr>
        <p:spPr>
          <a:xfrm>
            <a:off x="749808" y="17830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4400" y="1947672"/>
            <a:ext cx="566928" cy="475488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06654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8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572768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Manufacturing-first mindset</a:t>
            </a:r>
            <a:endParaRPr lang="en-US" sz="1560" dirty="0"/>
          </a:p>
        </p:txBody>
      </p:sp>
      <p:sp>
        <p:nvSpPr>
          <p:cNvPr id="13" name="Text 10"/>
          <p:cNvSpPr/>
          <p:nvPr/>
        </p:nvSpPr>
        <p:spPr>
          <a:xfrm>
            <a:off x="1572768" y="2194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modeling, anomaly and failure-pattern learning, and an instinct to translate model output into downtime or cost impact.</a:t>
            </a:r>
            <a:endParaRPr lang="en-US" sz="1480" dirty="0"/>
          </a:p>
        </p:txBody>
      </p:sp>
      <p:sp>
        <p:nvSpPr>
          <p:cNvPr id="14" name="Shape 11"/>
          <p:cNvSpPr/>
          <p:nvPr/>
        </p:nvSpPr>
        <p:spPr>
          <a:xfrm>
            <a:off x="749808" y="320040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4400" y="3364992"/>
            <a:ext cx="566928" cy="475488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48386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572768" y="33649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discipline</a:t>
            </a:r>
            <a:endParaRPr lang="en-US" sz="1560" dirty="0"/>
          </a:p>
        </p:txBody>
      </p:sp>
      <p:sp>
        <p:nvSpPr>
          <p:cNvPr id="18" name="Text 15"/>
          <p:cNvSpPr/>
          <p:nvPr/>
        </p:nvSpPr>
        <p:spPr>
          <a:xfrm>
            <a:off x="1572768" y="36118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design, ablations, metric selection, and the habit of validating whether a faster method is still trustworthy.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749808" y="461772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14400" y="4782312"/>
            <a:ext cx="566928" cy="47548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49011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572768" y="47823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mindset</a:t>
            </a:r>
            <a:endParaRPr lang="en-US" sz="1560" dirty="0"/>
          </a:p>
        </p:txBody>
      </p:sp>
      <p:sp>
        <p:nvSpPr>
          <p:cNvPr id="23" name="Text 20"/>
          <p:cNvSpPr/>
          <p:nvPr/>
        </p:nvSpPr>
        <p:spPr>
          <a:xfrm>
            <a:off x="1572768" y="5029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203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dashboards, vector search, retrieval pipelines, and enough product thinking to design beyond the notebook.</a:t>
            </a:r>
            <a:endParaRPr lang="en-US" sz="1480" dirty="0"/>
          </a:p>
        </p:txBody>
      </p:sp>
      <p:sp>
        <p:nvSpPr>
          <p:cNvPr id="24" name="Shape 21"/>
          <p:cNvSpPr/>
          <p:nvPr/>
        </p:nvSpPr>
        <p:spPr>
          <a:xfrm>
            <a:off x="1508760" y="6016752"/>
            <a:ext cx="9235440" cy="475488"/>
          </a:xfrm>
          <a:prstGeom prst="roundRect">
            <a:avLst/>
          </a:prstGeom>
          <a:solidFill>
            <a:srgbClr val="DCEFFD"/>
          </a:solidFill>
          <a:ln w="12700">
            <a:solidFill>
              <a:srgbClr val="DCEF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719072" y="6172200"/>
            <a:ext cx="8814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combination is the value I would want to bring into Hyundai Singapore’s data science work.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375601"/>
            <a:ext cx="3063240" cy="14550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77240" y="14447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D7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discuss model design choices, validation trade-offs, or code walkthroughs.</a:t>
            </a:r>
            <a:endParaRPr lang="en-US" sz="158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E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shared for interview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724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9DD9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1  →  astrozoid2604/CNC_Vibration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314553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9DD9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2  →  astrozoid2604/LLM_Leaderboard_Crawler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u="sng" dirty="0">
                <a:solidFill>
                  <a:srgbClr val="9DD9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3  →  astrozoid2604/ai_km_poc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4800600"/>
            <a:ext cx="4480560" cy="512064"/>
          </a:xfrm>
          <a:prstGeom prst="roundRect">
            <a:avLst/>
          </a:prstGeom>
          <a:solidFill>
            <a:srgbClr val="16345E"/>
          </a:solidFill>
          <a:ln w="12700">
            <a:solidFill>
              <a:srgbClr val="163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496519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7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AI  •  LLM research  •  Enterprise GenAI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598932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A9B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material in this deck has been kept high level and sanitized to avoid confidential or sensitive information.</a:t>
            </a:r>
            <a:endParaRPr lang="en-US" sz="1080" dirty="0"/>
          </a:p>
        </p:txBody>
      </p:sp>
      <p:pic>
        <p:nvPicPr>
          <p:cNvPr id="12" name="Image 1" descr="/mnt/data/hyundai_deck/assets/hyundai_emblem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283" y="5833872"/>
            <a:ext cx="866274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1987</Words>
  <Application>Microsoft Macintosh PowerPoint</Application>
  <PresentationFormat>Widescreen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James Lim - Data Science Project Portfolio</dc:title>
  <dc:subject>Hyundai Singapore interview portfolio</dc:subject>
  <dc:creator>OpenAI</dc:creator>
  <cp:lastModifiedBy>James Lim</cp:lastModifiedBy>
  <cp:revision>5</cp:revision>
  <dcterms:created xsi:type="dcterms:W3CDTF">2026-04-13T15:22:32Z</dcterms:created>
  <dcterms:modified xsi:type="dcterms:W3CDTF">2026-04-13T15:50:24Z</dcterms:modified>
</cp:coreProperties>
</file>